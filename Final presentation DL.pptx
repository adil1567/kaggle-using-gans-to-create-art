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0EB184-CAE1-4CF2-9F07-06DCBC7AE5FB}">
  <a:tblStyle styleId="{D30EB184-CAE1-4CF2-9F07-06DCBC7AE5F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9e792fd0dc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9e792fd0dc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9e792fd0dc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9e792fd0dc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993041c88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993041c88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993041c88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993041c88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e792fd0d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e792fd0d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9e792fd0d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9e792fd0d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9e792fd0d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9e792fd0d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9e792fd0d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9e792fd0d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9e792fd0d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9e792fd0d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993041c88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993041c88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e792fd0d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9e792fd0d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e792fd0d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9e792fd0d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9e792fd0d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9e792fd0d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993041c8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993041c8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9e792fd0dc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9e792fd0dc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8e2cda3d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8e2cda3d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Using GANs to create art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Rakhat Abdrakhmanov, Olzhas Zhangeldinov, Adil Zhiyenbayev, Aida Eduard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Introduction to the problem and project</a:t>
            </a:r>
            <a:endParaRPr/>
          </a:p>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
              <a:t>Intro:</a:t>
            </a:r>
            <a:r>
              <a:rPr lang="en"/>
              <a:t> </a:t>
            </a:r>
            <a:r>
              <a:rPr lang="en"/>
              <a:t>Many people admire the style of </a:t>
            </a:r>
            <a:r>
              <a:rPr lang="en"/>
              <a:t>Claude</a:t>
            </a:r>
            <a:r>
              <a:rPr lang="en"/>
              <a:t> Monet, who uses certain colors, shapes and brush strokes, and creativity in his paintings. It is hard to replicate the style manually, but the power of Generative Adversarial Networks are able to cope with it, using style transfer.</a:t>
            </a:r>
            <a:endParaRPr/>
          </a:p>
          <a:p>
            <a:pPr indent="0" lvl="0" marL="0" rtl="0" algn="l">
              <a:spcBef>
                <a:spcPts val="1200"/>
              </a:spcBef>
              <a:spcAft>
                <a:spcPts val="0"/>
              </a:spcAft>
              <a:buNone/>
            </a:pPr>
            <a:r>
              <a:rPr b="1" lang="en"/>
              <a:t>Challenge:</a:t>
            </a:r>
            <a:r>
              <a:rPr lang="en"/>
              <a:t> Capture the very essence of artistic ingenuity, not just replicating colors and shapes.</a:t>
            </a:r>
            <a:endParaRPr/>
          </a:p>
          <a:p>
            <a:pPr indent="0" lvl="0" marL="0" rtl="0" algn="l">
              <a:spcBef>
                <a:spcPts val="1200"/>
              </a:spcBef>
              <a:spcAft>
                <a:spcPts val="0"/>
              </a:spcAft>
              <a:buNone/>
            </a:pPr>
            <a:r>
              <a:rPr b="1" lang="en"/>
              <a:t>Goal:</a:t>
            </a:r>
            <a:endParaRPr b="1"/>
          </a:p>
          <a:p>
            <a:pPr indent="-332105" lvl="0" marL="457200" rtl="0" algn="l">
              <a:spcBef>
                <a:spcPts val="1200"/>
              </a:spcBef>
              <a:spcAft>
                <a:spcPts val="0"/>
              </a:spcAft>
              <a:buSzPct val="145535"/>
              <a:buChar char="●"/>
            </a:pPr>
            <a:r>
              <a:rPr lang="en" sz="1317">
                <a:solidFill>
                  <a:schemeClr val="dk1"/>
                </a:solidFill>
                <a:highlight>
                  <a:srgbClr val="FFFFFF"/>
                </a:highlight>
              </a:rPr>
              <a:t>Convert images to Claude Monet style artwork;</a:t>
            </a:r>
            <a:endParaRPr sz="1317">
              <a:solidFill>
                <a:schemeClr val="dk1"/>
              </a:solidFill>
              <a:highlight>
                <a:srgbClr val="FFFFFF"/>
              </a:highlight>
            </a:endParaRPr>
          </a:p>
          <a:p>
            <a:pPr indent="-332105" lvl="0" marL="457200" rtl="0" algn="l">
              <a:spcBef>
                <a:spcPts val="0"/>
              </a:spcBef>
              <a:spcAft>
                <a:spcPts val="0"/>
              </a:spcAft>
              <a:buSzPct val="145535"/>
              <a:buChar char="●"/>
            </a:pPr>
            <a:r>
              <a:rPr lang="en" sz="1317">
                <a:solidFill>
                  <a:srgbClr val="0F0F0F"/>
                </a:solidFill>
                <a:latin typeface="Roboto"/>
                <a:ea typeface="Roboto"/>
                <a:cs typeface="Roboto"/>
                <a:sym typeface="Roboto"/>
              </a:rPr>
              <a:t>Generate a significant volume of Monet-style images, ranging from 7,000 to 10,000;</a:t>
            </a:r>
            <a:endParaRPr sz="1317">
              <a:solidFill>
                <a:srgbClr val="0F0F0F"/>
              </a:solidFill>
              <a:latin typeface="Roboto"/>
              <a:ea typeface="Roboto"/>
              <a:cs typeface="Roboto"/>
              <a:sym typeface="Roboto"/>
            </a:endParaRPr>
          </a:p>
          <a:p>
            <a:pPr indent="-332105" lvl="0" marL="457200" marR="0" rtl="0" algn="l">
              <a:lnSpc>
                <a:spcPct val="115000"/>
              </a:lnSpc>
              <a:spcBef>
                <a:spcPts val="0"/>
              </a:spcBef>
              <a:spcAft>
                <a:spcPts val="0"/>
              </a:spcAft>
              <a:buSzPct val="145535"/>
              <a:buChar char="●"/>
            </a:pPr>
            <a:r>
              <a:rPr lang="en" sz="1317">
                <a:solidFill>
                  <a:srgbClr val="0F0F0F"/>
                </a:solidFill>
                <a:latin typeface="Roboto"/>
                <a:ea typeface="Roboto"/>
                <a:cs typeface="Roboto"/>
                <a:sym typeface="Roboto"/>
              </a:rPr>
              <a:t>Make assessment (quality improvement) based on FID (Fréchet Inception Distance);</a:t>
            </a:r>
            <a:endParaRPr sz="1317">
              <a:solidFill>
                <a:srgbClr val="0F0F0F"/>
              </a:solidFill>
              <a:latin typeface="Roboto"/>
              <a:ea typeface="Roboto"/>
              <a:cs typeface="Roboto"/>
              <a:sym typeface="Roboto"/>
            </a:endParaRPr>
          </a:p>
          <a:p>
            <a:pPr indent="-332105" lvl="0" marL="457200" marR="0" rtl="0" algn="l">
              <a:lnSpc>
                <a:spcPct val="115000"/>
              </a:lnSpc>
              <a:spcBef>
                <a:spcPts val="0"/>
              </a:spcBef>
              <a:spcAft>
                <a:spcPts val="0"/>
              </a:spcAft>
              <a:buSzPct val="145535"/>
              <a:buChar char="●"/>
            </a:pPr>
            <a:r>
              <a:rPr lang="en" sz="1317">
                <a:solidFill>
                  <a:srgbClr val="0F0F0F"/>
                </a:solidFill>
                <a:latin typeface="Roboto"/>
                <a:ea typeface="Roboto"/>
                <a:cs typeface="Roboto"/>
                <a:sym typeface="Roboto"/>
              </a:rPr>
              <a:t>Test state-of-the-art GAN models on the dataset;</a:t>
            </a:r>
            <a:endParaRPr sz="1317">
              <a:solidFill>
                <a:srgbClr val="0F0F0F"/>
              </a:solidFill>
              <a:latin typeface="Roboto"/>
              <a:ea typeface="Roboto"/>
              <a:cs typeface="Roboto"/>
              <a:sym typeface="Roboto"/>
            </a:endParaRPr>
          </a:p>
          <a:p>
            <a:pPr indent="-332105" lvl="0" marL="457200" marR="0" rtl="0" algn="l">
              <a:lnSpc>
                <a:spcPct val="115000"/>
              </a:lnSpc>
              <a:spcBef>
                <a:spcPts val="0"/>
              </a:spcBef>
              <a:spcAft>
                <a:spcPts val="0"/>
              </a:spcAft>
              <a:buSzPct val="145535"/>
              <a:buChar char="●"/>
            </a:pPr>
            <a:r>
              <a:rPr lang="en" sz="1317">
                <a:solidFill>
                  <a:srgbClr val="0F0F0F"/>
                </a:solidFill>
                <a:latin typeface="Roboto"/>
                <a:ea typeface="Roboto"/>
                <a:cs typeface="Roboto"/>
                <a:sym typeface="Roboto"/>
              </a:rPr>
              <a:t>Improve results in Monet-style image generation.</a:t>
            </a:r>
            <a:endParaRPr sz="1317">
              <a:solidFill>
                <a:srgbClr val="0F0F0F"/>
              </a:solidFill>
              <a:latin typeface="Roboto"/>
              <a:ea typeface="Roboto"/>
              <a:cs typeface="Roboto"/>
              <a:sym typeface="Roboto"/>
            </a:endParaRPr>
          </a:p>
          <a:p>
            <a:pPr indent="0" lvl="0" marL="0" rtl="0" algn="l">
              <a:spcBef>
                <a:spcPts val="0"/>
              </a:spcBef>
              <a:spcAft>
                <a:spcPts val="1200"/>
              </a:spcAft>
              <a:buNone/>
            </a:pPr>
            <a:r>
              <a:t/>
            </a:r>
            <a:endParaRPr sz="1200">
              <a:solidFill>
                <a:srgbClr val="0F0F0F"/>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858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sz="1577"/>
          </a:p>
          <a:p>
            <a:pPr indent="0" lvl="0" marL="0" rtl="0" algn="l">
              <a:spcBef>
                <a:spcPts val="0"/>
              </a:spcBef>
              <a:spcAft>
                <a:spcPts val="0"/>
              </a:spcAft>
              <a:buNone/>
            </a:pPr>
            <a:r>
              <a:t/>
            </a:r>
            <a:endParaRPr/>
          </a:p>
        </p:txBody>
      </p:sp>
      <p:graphicFrame>
        <p:nvGraphicFramePr>
          <p:cNvPr id="67" name="Google Shape;67;p15"/>
          <p:cNvGraphicFramePr/>
          <p:nvPr/>
        </p:nvGraphicFramePr>
        <p:xfrm>
          <a:off x="384275" y="84688"/>
          <a:ext cx="3000000" cy="3000000"/>
        </p:xfrm>
        <a:graphic>
          <a:graphicData uri="http://schemas.openxmlformats.org/drawingml/2006/table">
            <a:tbl>
              <a:tblPr>
                <a:noFill/>
                <a:tableStyleId>{D30EB184-CAE1-4CF2-9F07-06DCBC7AE5FB}</a:tableStyleId>
              </a:tblPr>
              <a:tblGrid>
                <a:gridCol w="1107225"/>
                <a:gridCol w="1107225"/>
                <a:gridCol w="1107225"/>
                <a:gridCol w="1107225"/>
                <a:gridCol w="1894025"/>
                <a:gridCol w="1333100"/>
              </a:tblGrid>
              <a:tr h="278175">
                <a:tc>
                  <a:txBody>
                    <a:bodyPr/>
                    <a:lstStyle/>
                    <a:p>
                      <a:pPr indent="0" lvl="0" marL="0" rtl="0" algn="l">
                        <a:spcBef>
                          <a:spcPts val="0"/>
                        </a:spcBef>
                        <a:spcAft>
                          <a:spcPts val="0"/>
                        </a:spcAft>
                        <a:buNone/>
                      </a:pPr>
                      <a:r>
                        <a:rPr b="1" lang="en" sz="1000"/>
                        <a:t>Lit.</a:t>
                      </a:r>
                      <a:endParaRPr b="1" sz="1000"/>
                    </a:p>
                  </a:txBody>
                  <a:tcPr marT="91425" marB="91425" marR="91425" marL="91425"/>
                </a:tc>
                <a:tc>
                  <a:txBody>
                    <a:bodyPr/>
                    <a:lstStyle/>
                    <a:p>
                      <a:pPr indent="0" lvl="0" marL="0" rtl="0" algn="l">
                        <a:spcBef>
                          <a:spcPts val="0"/>
                        </a:spcBef>
                        <a:spcAft>
                          <a:spcPts val="0"/>
                        </a:spcAft>
                        <a:buNone/>
                      </a:pPr>
                      <a:r>
                        <a:rPr b="1" lang="en" sz="1000"/>
                        <a:t>Method</a:t>
                      </a:r>
                      <a:endParaRPr b="1" sz="1000"/>
                    </a:p>
                  </a:txBody>
                  <a:tcPr marT="91425" marB="91425" marR="91425" marL="91425"/>
                </a:tc>
                <a:tc>
                  <a:txBody>
                    <a:bodyPr/>
                    <a:lstStyle/>
                    <a:p>
                      <a:pPr indent="0" lvl="0" marL="0" rtl="0" algn="l">
                        <a:spcBef>
                          <a:spcPts val="0"/>
                        </a:spcBef>
                        <a:spcAft>
                          <a:spcPts val="0"/>
                        </a:spcAft>
                        <a:buNone/>
                      </a:pPr>
                      <a:r>
                        <a:rPr b="1" lang="en" sz="1000"/>
                        <a:t>Dataset</a:t>
                      </a:r>
                      <a:endParaRPr b="1" sz="1000"/>
                    </a:p>
                  </a:txBody>
                  <a:tcPr marT="91425" marB="91425" marR="91425" marL="91425"/>
                </a:tc>
                <a:tc>
                  <a:txBody>
                    <a:bodyPr/>
                    <a:lstStyle/>
                    <a:p>
                      <a:pPr indent="0" lvl="0" marL="0" rtl="0" algn="l">
                        <a:spcBef>
                          <a:spcPts val="0"/>
                        </a:spcBef>
                        <a:spcAft>
                          <a:spcPts val="0"/>
                        </a:spcAft>
                        <a:buNone/>
                      </a:pPr>
                      <a:r>
                        <a:rPr b="1" lang="en" sz="1000"/>
                        <a:t>Accuracy</a:t>
                      </a:r>
                      <a:endParaRPr b="1" sz="1000"/>
                    </a:p>
                  </a:txBody>
                  <a:tcPr marT="91425" marB="91425" marR="91425" marL="91425"/>
                </a:tc>
                <a:tc>
                  <a:txBody>
                    <a:bodyPr/>
                    <a:lstStyle/>
                    <a:p>
                      <a:pPr indent="0" lvl="0" marL="0" rtl="0" algn="l">
                        <a:spcBef>
                          <a:spcPts val="0"/>
                        </a:spcBef>
                        <a:spcAft>
                          <a:spcPts val="0"/>
                        </a:spcAft>
                        <a:buNone/>
                      </a:pPr>
                      <a:r>
                        <a:rPr b="1" lang="en" sz="1000"/>
                        <a:t>Task</a:t>
                      </a:r>
                      <a:endParaRPr b="1" sz="1000"/>
                    </a:p>
                  </a:txBody>
                  <a:tcPr marT="91425" marB="91425" marR="91425" marL="91425"/>
                </a:tc>
                <a:tc>
                  <a:txBody>
                    <a:bodyPr/>
                    <a:lstStyle/>
                    <a:p>
                      <a:pPr indent="0" lvl="0" marL="0" rtl="0" algn="l">
                        <a:spcBef>
                          <a:spcPts val="0"/>
                        </a:spcBef>
                        <a:spcAft>
                          <a:spcPts val="0"/>
                        </a:spcAft>
                        <a:buNone/>
                      </a:pPr>
                      <a:r>
                        <a:rPr b="1" lang="en" sz="1000"/>
                        <a:t>Eval.</a:t>
                      </a:r>
                      <a:endParaRPr b="1" sz="1000"/>
                    </a:p>
                  </a:txBody>
                  <a:tcPr marT="91425" marB="91425" marR="91425" marL="91425"/>
                </a:tc>
              </a:tr>
              <a:tr h="1155550">
                <a:tc>
                  <a:txBody>
                    <a:bodyPr/>
                    <a:lstStyle/>
                    <a:p>
                      <a:pPr indent="0" lvl="0" marL="0" rtl="0" algn="l">
                        <a:spcBef>
                          <a:spcPts val="0"/>
                        </a:spcBef>
                        <a:spcAft>
                          <a:spcPts val="0"/>
                        </a:spcAft>
                        <a:buNone/>
                      </a:pPr>
                      <a:r>
                        <a:rPr lang="en" sz="1000"/>
                        <a:t>[1]</a:t>
                      </a:r>
                      <a:endParaRPr sz="1000"/>
                    </a:p>
                  </a:txBody>
                  <a:tcPr marT="91425" marB="91425" marR="91425" marL="91425"/>
                </a:tc>
                <a:tc>
                  <a:txBody>
                    <a:bodyPr/>
                    <a:lstStyle/>
                    <a:p>
                      <a:pPr indent="0" lvl="0" marL="0" rtl="0" algn="l">
                        <a:spcBef>
                          <a:spcPts val="0"/>
                        </a:spcBef>
                        <a:spcAft>
                          <a:spcPts val="0"/>
                        </a:spcAft>
                        <a:buNone/>
                      </a:pPr>
                      <a:r>
                        <a:rPr lang="en" sz="1000"/>
                        <a:t>cGAN</a:t>
                      </a:r>
                      <a:endParaRPr sz="1000"/>
                    </a:p>
                  </a:txBody>
                  <a:tcPr marT="91425" marB="91425" marR="91425" marL="91425"/>
                </a:tc>
                <a:tc>
                  <a:txBody>
                    <a:bodyPr/>
                    <a:lstStyle/>
                    <a:p>
                      <a:pPr indent="0" lvl="0" marL="0" rtl="0" algn="l">
                        <a:spcBef>
                          <a:spcPts val="0"/>
                        </a:spcBef>
                        <a:spcAft>
                          <a:spcPts val="0"/>
                        </a:spcAft>
                        <a:buNone/>
                      </a:pPr>
                      <a:r>
                        <a:rPr lang="en" sz="1000">
                          <a:solidFill>
                            <a:schemeClr val="dk1"/>
                          </a:solidFill>
                          <a:highlight>
                            <a:srgbClr val="FFFFFF"/>
                          </a:highlight>
                        </a:rPr>
                        <a:t>Google Maps</a:t>
                      </a:r>
                      <a:endParaRPr sz="1000">
                        <a:solidFill>
                          <a:schemeClr val="dk1"/>
                        </a:solidFill>
                        <a:highlight>
                          <a:srgbClr val="FFFFFF"/>
                        </a:highlight>
                      </a:endParaRPr>
                    </a:p>
                    <a:p>
                      <a:pPr indent="0" lvl="0" marL="0" rtl="0" algn="l">
                        <a:spcBef>
                          <a:spcPts val="0"/>
                        </a:spcBef>
                        <a:spcAft>
                          <a:spcPts val="0"/>
                        </a:spcAft>
                        <a:buNone/>
                      </a:pPr>
                      <a:r>
                        <a:rPr lang="en" sz="1000">
                          <a:solidFill>
                            <a:schemeClr val="dk1"/>
                          </a:solidFill>
                          <a:highlight>
                            <a:srgbClr val="FFFFFF"/>
                          </a:highlight>
                        </a:rPr>
                        <a:t>Cityscapes</a:t>
                      </a:r>
                      <a:endParaRPr sz="1000">
                        <a:solidFill>
                          <a:schemeClr val="dk1"/>
                        </a:solidFill>
                        <a:highlight>
                          <a:srgbClr val="FFFFFF"/>
                        </a:highlight>
                      </a:endParaRPr>
                    </a:p>
                  </a:txBody>
                  <a:tcPr marT="91425" marB="91425" marR="91425" marL="91425"/>
                </a:tc>
                <a:tc>
                  <a:txBody>
                    <a:bodyPr/>
                    <a:lstStyle/>
                    <a:p>
                      <a:pPr indent="0" lvl="0" marL="0" rtl="0" algn="l">
                        <a:spcBef>
                          <a:spcPts val="0"/>
                        </a:spcBef>
                        <a:spcAft>
                          <a:spcPts val="0"/>
                        </a:spcAft>
                        <a:buNone/>
                      </a:pPr>
                      <a:r>
                        <a:rPr b="1" lang="en" sz="1000">
                          <a:solidFill>
                            <a:schemeClr val="dk1"/>
                          </a:solidFill>
                        </a:rPr>
                        <a:t>Color:</a:t>
                      </a:r>
                      <a:endParaRPr b="1" sz="1000"/>
                    </a:p>
                    <a:p>
                      <a:pPr indent="0" lvl="0" marL="0" rtl="0" algn="l">
                        <a:spcBef>
                          <a:spcPts val="0"/>
                        </a:spcBef>
                        <a:spcAft>
                          <a:spcPts val="0"/>
                        </a:spcAft>
                        <a:buNone/>
                      </a:pPr>
                      <a:r>
                        <a:rPr i="1" lang="en" sz="1000"/>
                        <a:t>ATM:</a:t>
                      </a:r>
                      <a:r>
                        <a:rPr lang="en" sz="1000"/>
                        <a:t>27.8%</a:t>
                      </a:r>
                      <a:endParaRPr sz="1000"/>
                    </a:p>
                    <a:p>
                      <a:pPr indent="0" lvl="0" marL="0" rtl="0" algn="l">
                        <a:spcBef>
                          <a:spcPts val="0"/>
                        </a:spcBef>
                        <a:spcAft>
                          <a:spcPts val="0"/>
                        </a:spcAft>
                        <a:buNone/>
                      </a:pPr>
                      <a:r>
                        <a:rPr lang="en" sz="1000"/>
                        <a:t> </a:t>
                      </a:r>
                      <a:r>
                        <a:rPr b="1" lang="en" sz="1000"/>
                        <a:t>Aerial</a:t>
                      </a:r>
                      <a:endParaRPr b="1" sz="1000"/>
                    </a:p>
                    <a:p>
                      <a:pPr indent="0" lvl="0" marL="0" rtl="0" algn="l">
                        <a:spcBef>
                          <a:spcPts val="0"/>
                        </a:spcBef>
                        <a:spcAft>
                          <a:spcPts val="0"/>
                        </a:spcAft>
                        <a:buClr>
                          <a:schemeClr val="dk1"/>
                        </a:buClr>
                        <a:buSzPts val="1100"/>
                        <a:buFont typeface="Arial"/>
                        <a:buNone/>
                      </a:pPr>
                      <a:r>
                        <a:rPr i="1" lang="en" sz="1000">
                          <a:solidFill>
                            <a:schemeClr val="dk1"/>
                          </a:solidFill>
                        </a:rPr>
                        <a:t>ATM:</a:t>
                      </a:r>
                      <a:endParaRPr i="1" sz="1000">
                        <a:solidFill>
                          <a:schemeClr val="dk1"/>
                        </a:solidFill>
                      </a:endParaRPr>
                    </a:p>
                    <a:p>
                      <a:pPr indent="0" lvl="0" marL="0" rtl="0" algn="l">
                        <a:spcBef>
                          <a:spcPts val="0"/>
                        </a:spcBef>
                        <a:spcAft>
                          <a:spcPts val="0"/>
                        </a:spcAft>
                        <a:buNone/>
                      </a:pPr>
                      <a:r>
                        <a:rPr lang="en" sz="1000">
                          <a:solidFill>
                            <a:schemeClr val="dk1"/>
                          </a:solidFill>
                        </a:rPr>
                        <a:t>6.1%,18.9%</a:t>
                      </a:r>
                      <a:endParaRPr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Labels↔Photo</a:t>
                      </a:r>
                      <a:endParaRPr sz="1000">
                        <a:solidFill>
                          <a:schemeClr val="dk1"/>
                        </a:solidFill>
                      </a:endParaRPr>
                    </a:p>
                    <a:p>
                      <a:pPr indent="0" lvl="0" marL="0" rtl="0" algn="l">
                        <a:spcBef>
                          <a:spcPts val="0"/>
                        </a:spcBef>
                        <a:spcAft>
                          <a:spcPts val="0"/>
                        </a:spcAft>
                        <a:buNone/>
                      </a:pPr>
                      <a:r>
                        <a:rPr i="1" lang="en" sz="1000"/>
                        <a:t>FCN:</a:t>
                      </a:r>
                      <a:r>
                        <a:rPr lang="en" sz="1000"/>
                        <a:t> 0.66</a:t>
                      </a:r>
                      <a:endParaRPr sz="1000"/>
                    </a:p>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b="1" lang="en" sz="1000"/>
                        <a:t>Map↔Aerial photo</a:t>
                      </a:r>
                      <a:endParaRPr b="1" sz="1000"/>
                    </a:p>
                    <a:p>
                      <a:pPr indent="0" lvl="0" marL="0" rtl="0" algn="l">
                        <a:spcBef>
                          <a:spcPts val="0"/>
                        </a:spcBef>
                        <a:spcAft>
                          <a:spcPts val="0"/>
                        </a:spcAft>
                        <a:buNone/>
                      </a:pPr>
                      <a:r>
                        <a:rPr lang="en" sz="1000"/>
                        <a:t>BW→color photos</a:t>
                      </a:r>
                      <a:endParaRPr sz="1000"/>
                    </a:p>
                    <a:p>
                      <a:pPr indent="0" lvl="0" marL="0" rtl="0" algn="l">
                        <a:spcBef>
                          <a:spcPts val="0"/>
                        </a:spcBef>
                        <a:spcAft>
                          <a:spcPts val="0"/>
                        </a:spcAft>
                        <a:buNone/>
                      </a:pPr>
                      <a:r>
                        <a:rPr lang="en" sz="1000"/>
                        <a:t>Sketch→photo</a:t>
                      </a:r>
                      <a:endParaRPr sz="1000"/>
                    </a:p>
                    <a:p>
                      <a:pPr indent="0" lvl="0" marL="0" rtl="0" algn="l">
                        <a:spcBef>
                          <a:spcPts val="0"/>
                        </a:spcBef>
                        <a:spcAft>
                          <a:spcPts val="0"/>
                        </a:spcAft>
                        <a:buNone/>
                      </a:pPr>
                      <a:r>
                        <a:rPr b="1" lang="en" sz="1000"/>
                        <a:t>Semantic Labels↔Photo</a:t>
                      </a:r>
                      <a:endParaRPr b="1" sz="1000"/>
                    </a:p>
                  </a:txBody>
                  <a:tcPr marT="91425" marB="91425" marR="91425" marL="91425"/>
                </a:tc>
                <a:tc>
                  <a:txBody>
                    <a:bodyPr/>
                    <a:lstStyle/>
                    <a:p>
                      <a:pPr indent="0" lvl="0" marL="0" rtl="0" algn="l">
                        <a:spcBef>
                          <a:spcPts val="0"/>
                        </a:spcBef>
                        <a:spcAft>
                          <a:spcPts val="0"/>
                        </a:spcAft>
                        <a:buNone/>
                      </a:pPr>
                      <a:r>
                        <a:rPr lang="en" sz="1000"/>
                        <a:t> Amazon Mechanical Turk (AMT)</a:t>
                      </a:r>
                      <a:endParaRPr sz="1000"/>
                    </a:p>
                    <a:p>
                      <a:pPr indent="0" lvl="0" marL="0" rtl="0" algn="l">
                        <a:spcBef>
                          <a:spcPts val="0"/>
                        </a:spcBef>
                        <a:spcAft>
                          <a:spcPts val="0"/>
                        </a:spcAft>
                        <a:buNone/>
                      </a:pPr>
                      <a:r>
                        <a:rPr lang="en" sz="1000"/>
                        <a:t>FCN</a:t>
                      </a:r>
                      <a:endParaRPr sz="1000"/>
                    </a:p>
                  </a:txBody>
                  <a:tcPr marT="91425" marB="91425" marR="91425" marL="91425"/>
                </a:tc>
              </a:tr>
              <a:tr h="1155550">
                <a:tc>
                  <a:txBody>
                    <a:bodyPr/>
                    <a:lstStyle/>
                    <a:p>
                      <a:pPr indent="0" lvl="0" marL="0" rtl="0" algn="l">
                        <a:spcBef>
                          <a:spcPts val="0"/>
                        </a:spcBef>
                        <a:spcAft>
                          <a:spcPts val="0"/>
                        </a:spcAft>
                        <a:buNone/>
                      </a:pPr>
                      <a:r>
                        <a:rPr lang="en" sz="1000"/>
                        <a:t>[2]</a:t>
                      </a:r>
                      <a:endParaRPr sz="1000"/>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rgbClr val="FFFFFF"/>
                          </a:highlight>
                        </a:rPr>
                        <a:t>CycleGAN</a:t>
                      </a:r>
                      <a:endParaRPr sz="1000">
                        <a:solidFill>
                          <a:schemeClr val="dk1"/>
                        </a:solidFill>
                        <a:highlight>
                          <a:srgbClr val="FFFFFF"/>
                        </a:highlight>
                      </a:endParaRPr>
                    </a:p>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000">
                          <a:solidFill>
                            <a:schemeClr val="dk1"/>
                          </a:solidFill>
                          <a:highlight>
                            <a:srgbClr val="FFFFFF"/>
                          </a:highlight>
                        </a:rPr>
                        <a:t>Google Maps</a:t>
                      </a:r>
                      <a:endParaRPr sz="1000">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rPr lang="en" sz="1000">
                          <a:solidFill>
                            <a:schemeClr val="dk1"/>
                          </a:solidFill>
                          <a:highlight>
                            <a:srgbClr val="FFFFFF"/>
                          </a:highlight>
                        </a:rPr>
                        <a:t>Cityscapes</a:t>
                      </a:r>
                      <a:endParaRPr sz="1000">
                        <a:solidFill>
                          <a:schemeClr val="dk1"/>
                        </a:solidFill>
                        <a:highlight>
                          <a:srgbClr val="FFFFFF"/>
                        </a:highlight>
                      </a:endParaRPr>
                    </a:p>
                    <a:p>
                      <a:pPr indent="0" lvl="0" marL="0" rtl="0" algn="l">
                        <a:spcBef>
                          <a:spcPts val="0"/>
                        </a:spcBef>
                        <a:spcAft>
                          <a:spcPts val="0"/>
                        </a:spcAft>
                        <a:buNone/>
                      </a:pPr>
                      <a:r>
                        <a:t/>
                      </a:r>
                      <a:endParaRPr sz="1000"/>
                    </a:p>
                  </a:txBody>
                  <a:tcPr marT="91425" marB="91425" marR="91425" marL="91425"/>
                </a:tc>
                <a:tc>
                  <a:txBody>
                    <a:bodyPr/>
                    <a:lstStyle/>
                    <a:p>
                      <a:pPr indent="0" lvl="0" marL="0" rtl="0" algn="l">
                        <a:spcBef>
                          <a:spcPts val="0"/>
                        </a:spcBef>
                        <a:spcAft>
                          <a:spcPts val="0"/>
                        </a:spcAft>
                        <a:buNone/>
                      </a:pPr>
                      <a:r>
                        <a:rPr b="1" lang="en" sz="1000">
                          <a:solidFill>
                            <a:schemeClr val="dk1"/>
                          </a:solidFill>
                        </a:rPr>
                        <a:t>Aerial:</a:t>
                      </a:r>
                      <a:endParaRPr b="1" sz="1000">
                        <a:solidFill>
                          <a:schemeClr val="dk1"/>
                        </a:solidFill>
                      </a:endParaRPr>
                    </a:p>
                    <a:p>
                      <a:pPr indent="0" lvl="0" marL="0" rtl="0" algn="l">
                        <a:spcBef>
                          <a:spcPts val="0"/>
                        </a:spcBef>
                        <a:spcAft>
                          <a:spcPts val="0"/>
                        </a:spcAft>
                        <a:buNone/>
                      </a:pPr>
                      <a:r>
                        <a:rPr i="1" lang="en" sz="1000">
                          <a:solidFill>
                            <a:schemeClr val="dk1"/>
                          </a:solidFill>
                        </a:rPr>
                        <a:t>ATM:</a:t>
                      </a:r>
                      <a:r>
                        <a:rPr lang="en" sz="1000">
                          <a:solidFill>
                            <a:schemeClr val="dk1"/>
                          </a:solidFill>
                        </a:rPr>
                        <a:t> 23%,27%</a:t>
                      </a:r>
                      <a:endParaRPr sz="1000">
                        <a:solidFill>
                          <a:schemeClr val="dk1"/>
                        </a:solidFill>
                      </a:endParaRPr>
                    </a:p>
                    <a:p>
                      <a:pPr indent="0" lvl="0" marL="0" rtl="0" algn="l">
                        <a:spcBef>
                          <a:spcPts val="0"/>
                        </a:spcBef>
                        <a:spcAft>
                          <a:spcPts val="0"/>
                        </a:spcAft>
                        <a:buNone/>
                      </a:pPr>
                      <a:r>
                        <a:rPr b="1" lang="en" sz="1000">
                          <a:solidFill>
                            <a:schemeClr val="dk1"/>
                          </a:solidFill>
                        </a:rPr>
                        <a:t>Labels↔Photo</a:t>
                      </a:r>
                      <a:endParaRPr b="1" sz="1000">
                        <a:solidFill>
                          <a:schemeClr val="dk1"/>
                        </a:solidFill>
                      </a:endParaRPr>
                    </a:p>
                    <a:p>
                      <a:pPr indent="0" lvl="0" marL="0" rtl="0" algn="l">
                        <a:spcBef>
                          <a:spcPts val="0"/>
                        </a:spcBef>
                        <a:spcAft>
                          <a:spcPts val="0"/>
                        </a:spcAft>
                        <a:buClr>
                          <a:schemeClr val="dk1"/>
                        </a:buClr>
                        <a:buSzPts val="1100"/>
                        <a:buFont typeface="Arial"/>
                        <a:buNone/>
                      </a:pPr>
                      <a:r>
                        <a:rPr i="1" lang="en" sz="1000">
                          <a:solidFill>
                            <a:schemeClr val="dk1"/>
                          </a:solidFill>
                        </a:rPr>
                        <a:t>FCN: </a:t>
                      </a:r>
                      <a:r>
                        <a:rPr lang="en" sz="1000">
                          <a:solidFill>
                            <a:schemeClr val="dk1"/>
                          </a:solidFill>
                        </a:rPr>
                        <a:t>0.52,0.58</a:t>
                      </a:r>
                      <a:endParaRPr sz="1000">
                        <a:solidFill>
                          <a:schemeClr val="dk1"/>
                        </a:solidFill>
                      </a:endParaRPr>
                    </a:p>
                    <a:p>
                      <a:pPr indent="0" lvl="0" marL="0" rtl="0" algn="l">
                        <a:spcBef>
                          <a:spcPts val="0"/>
                        </a:spcBef>
                        <a:spcAft>
                          <a:spcPts val="0"/>
                        </a:spcAft>
                        <a:buNone/>
                      </a:pPr>
                      <a:r>
                        <a:rPr b="1" lang="en" sz="1000"/>
                        <a:t>Content</a:t>
                      </a:r>
                      <a:r>
                        <a:rPr b="1" lang="en" sz="1000"/>
                        <a:t>:</a:t>
                      </a:r>
                      <a:endParaRPr b="1" sz="1000"/>
                    </a:p>
                    <a:p>
                      <a:pPr indent="0" lvl="0" marL="0" rtl="0" algn="l">
                        <a:spcBef>
                          <a:spcPts val="0"/>
                        </a:spcBef>
                        <a:spcAft>
                          <a:spcPts val="0"/>
                        </a:spcAft>
                        <a:buNone/>
                      </a:pPr>
                      <a:r>
                        <a:rPr lang="en" sz="1000"/>
                        <a:t>5.2%</a:t>
                      </a:r>
                      <a:endParaRPr sz="1000"/>
                    </a:p>
                    <a:p>
                      <a:pPr indent="0" lvl="0" marL="0" rtl="0" algn="l">
                        <a:spcBef>
                          <a:spcPts val="0"/>
                        </a:spcBef>
                        <a:spcAft>
                          <a:spcPts val="0"/>
                        </a:spcAft>
                        <a:buNone/>
                      </a:pPr>
                      <a:r>
                        <a:rPr b="1" lang="en" sz="1000"/>
                        <a:t>Style:</a:t>
                      </a:r>
                      <a:endParaRPr b="1" sz="1000"/>
                    </a:p>
                    <a:p>
                      <a:pPr indent="0" lvl="0" marL="0" rtl="0" algn="l">
                        <a:spcBef>
                          <a:spcPts val="0"/>
                        </a:spcBef>
                        <a:spcAft>
                          <a:spcPts val="0"/>
                        </a:spcAft>
                        <a:buNone/>
                      </a:pPr>
                      <a:r>
                        <a:rPr lang="en" sz="1000"/>
                        <a:t>97.2%</a:t>
                      </a:r>
                      <a:endParaRPr sz="1000"/>
                    </a:p>
                  </a:txBody>
                  <a:tcPr marT="91425" marB="91425" marR="91425" marL="91425"/>
                </a:tc>
                <a:tc>
                  <a:txBody>
                    <a:bodyPr/>
                    <a:lstStyle/>
                    <a:p>
                      <a:pPr indent="0" lvl="0" marL="0" rtl="0" algn="l">
                        <a:spcBef>
                          <a:spcPts val="0"/>
                        </a:spcBef>
                        <a:spcAft>
                          <a:spcPts val="0"/>
                        </a:spcAft>
                        <a:buNone/>
                      </a:pPr>
                      <a:r>
                        <a:rPr b="1" lang="en" sz="1000"/>
                        <a:t>Labels↔Photo</a:t>
                      </a:r>
                      <a:endParaRPr b="1" sz="1000"/>
                    </a:p>
                    <a:p>
                      <a:pPr indent="0" lvl="0" marL="0" rtl="0" algn="l">
                        <a:spcBef>
                          <a:spcPts val="0"/>
                        </a:spcBef>
                        <a:spcAft>
                          <a:spcPts val="0"/>
                        </a:spcAft>
                        <a:buNone/>
                      </a:pPr>
                      <a:r>
                        <a:rPr b="1" lang="en" sz="1000"/>
                        <a:t>Map↔Aerial photo</a:t>
                      </a:r>
                      <a:endParaRPr b="1" sz="1000"/>
                    </a:p>
                  </a:txBody>
                  <a:tcPr marT="91425" marB="91425" marR="91425" marL="91425"/>
                </a:tc>
                <a:tc>
                  <a:txBody>
                    <a:bodyPr/>
                    <a:lstStyle/>
                    <a:p>
                      <a:pPr indent="0" lvl="0" marL="0" rtl="0" algn="l">
                        <a:spcBef>
                          <a:spcPts val="0"/>
                        </a:spcBef>
                        <a:spcAft>
                          <a:spcPts val="0"/>
                        </a:spcAft>
                        <a:buNone/>
                      </a:pPr>
                      <a:r>
                        <a:rPr lang="en" sz="1000"/>
                        <a:t>ATM</a:t>
                      </a:r>
                      <a:endParaRPr sz="1000"/>
                    </a:p>
                    <a:p>
                      <a:pPr indent="0" lvl="0" marL="0" rtl="0" algn="l">
                        <a:spcBef>
                          <a:spcPts val="0"/>
                        </a:spcBef>
                        <a:spcAft>
                          <a:spcPts val="0"/>
                        </a:spcAft>
                        <a:buNone/>
                      </a:pPr>
                      <a:r>
                        <a:rPr lang="en" sz="1000"/>
                        <a:t>FCN</a:t>
                      </a:r>
                      <a:endParaRPr sz="1000"/>
                    </a:p>
                  </a:txBody>
                  <a:tcPr marT="91425" marB="91425" marR="91425" marL="91425"/>
                </a:tc>
              </a:tr>
              <a:tr h="898775">
                <a:tc>
                  <a:txBody>
                    <a:bodyPr/>
                    <a:lstStyle/>
                    <a:p>
                      <a:pPr indent="0" lvl="0" marL="0" rtl="0" algn="l">
                        <a:spcBef>
                          <a:spcPts val="0"/>
                        </a:spcBef>
                        <a:spcAft>
                          <a:spcPts val="0"/>
                        </a:spcAft>
                        <a:buNone/>
                      </a:pPr>
                      <a:r>
                        <a:rPr lang="en" sz="1000"/>
                        <a:t>[3]</a:t>
                      </a:r>
                      <a:endParaRPr sz="1000"/>
                    </a:p>
                  </a:txBody>
                  <a:tcPr marT="91425" marB="91425" marR="91425" marL="91425"/>
                </a:tc>
                <a:tc>
                  <a:txBody>
                    <a:bodyPr/>
                    <a:lstStyle/>
                    <a:p>
                      <a:pPr indent="0" lvl="0" marL="0" rtl="0" algn="l">
                        <a:spcBef>
                          <a:spcPts val="0"/>
                        </a:spcBef>
                        <a:spcAft>
                          <a:spcPts val="0"/>
                        </a:spcAft>
                        <a:buNone/>
                      </a:pPr>
                      <a:r>
                        <a:rPr lang="en" sz="1000"/>
                        <a:t>DualGAN</a:t>
                      </a:r>
                      <a:endParaRPr sz="1000"/>
                    </a:p>
                  </a:txBody>
                  <a:tcPr marT="91425" marB="91425" marR="91425" marL="91425"/>
                </a:tc>
                <a:tc>
                  <a:txBody>
                    <a:bodyPr/>
                    <a:lstStyle/>
                    <a:p>
                      <a:pPr indent="0" lvl="0" marL="0" rtl="0" algn="l">
                        <a:spcBef>
                          <a:spcPts val="0"/>
                        </a:spcBef>
                        <a:spcAft>
                          <a:spcPts val="0"/>
                        </a:spcAft>
                        <a:buNone/>
                      </a:pPr>
                      <a:r>
                        <a:rPr lang="en" sz="1000"/>
                        <a:t>Photo-sketch, Day-night, label-facades, and </a:t>
                      </a:r>
                      <a:r>
                        <a:rPr lang="en" sz="1000"/>
                        <a:t>aerial maps</a:t>
                      </a:r>
                      <a:endParaRPr sz="1000"/>
                    </a:p>
                  </a:txBody>
                  <a:tcPr marT="91425" marB="91425" marR="91425" marL="91425"/>
                </a:tc>
                <a:tc>
                  <a:txBody>
                    <a:bodyPr/>
                    <a:lstStyle/>
                    <a:p>
                      <a:pPr indent="0" lvl="0" marL="0" rtl="0" algn="l">
                        <a:spcBef>
                          <a:spcPts val="0"/>
                        </a:spcBef>
                        <a:spcAft>
                          <a:spcPts val="0"/>
                        </a:spcAft>
                        <a:buNone/>
                      </a:pPr>
                      <a:r>
                        <a:rPr b="1" lang="en" sz="1000">
                          <a:solidFill>
                            <a:schemeClr val="dk1"/>
                          </a:solidFill>
                        </a:rPr>
                        <a:t>Aerial:</a:t>
                      </a:r>
                      <a:endParaRPr b="1" sz="1000">
                        <a:solidFill>
                          <a:schemeClr val="dk1"/>
                        </a:solidFill>
                      </a:endParaRPr>
                    </a:p>
                    <a:p>
                      <a:pPr indent="0" lvl="0" marL="0" rtl="0" algn="l">
                        <a:spcBef>
                          <a:spcPts val="0"/>
                        </a:spcBef>
                        <a:spcAft>
                          <a:spcPts val="0"/>
                        </a:spcAft>
                        <a:buNone/>
                      </a:pPr>
                      <a:r>
                        <a:rPr i="1" lang="en" sz="1000">
                          <a:solidFill>
                            <a:schemeClr val="dk1"/>
                          </a:solidFill>
                        </a:rPr>
                        <a:t>ATM: </a:t>
                      </a:r>
                      <a:r>
                        <a:rPr lang="en" sz="1000">
                          <a:solidFill>
                            <a:schemeClr val="dk1"/>
                          </a:solidFill>
                        </a:rPr>
                        <a:t>0.42</a:t>
                      </a:r>
                      <a:endParaRPr sz="1000">
                        <a:solidFill>
                          <a:schemeClr val="dk1"/>
                        </a:solidFill>
                      </a:endParaRPr>
                    </a:p>
                    <a:p>
                      <a:pPr indent="0" lvl="0" marL="0" rtl="0" algn="l">
                        <a:spcBef>
                          <a:spcPts val="0"/>
                        </a:spcBef>
                        <a:spcAft>
                          <a:spcPts val="0"/>
                        </a:spcAft>
                        <a:buNone/>
                      </a:pPr>
                      <a:r>
                        <a:rPr b="1" lang="en" sz="1000">
                          <a:solidFill>
                            <a:schemeClr val="dk1"/>
                          </a:solidFill>
                        </a:rPr>
                        <a:t>Content:</a:t>
                      </a:r>
                      <a:endParaRPr b="1" sz="1000">
                        <a:solidFill>
                          <a:schemeClr val="dk1"/>
                        </a:solidFill>
                      </a:endParaRPr>
                    </a:p>
                    <a:p>
                      <a:pPr indent="0" lvl="0" marL="0" rtl="0" algn="l">
                        <a:spcBef>
                          <a:spcPts val="0"/>
                        </a:spcBef>
                        <a:spcAft>
                          <a:spcPts val="0"/>
                        </a:spcAft>
                        <a:buNone/>
                      </a:pPr>
                      <a:r>
                        <a:rPr lang="en" sz="1000">
                          <a:solidFill>
                            <a:schemeClr val="dk1"/>
                          </a:solidFill>
                        </a:rPr>
                        <a:t>57.5%</a:t>
                      </a:r>
                      <a:endParaRPr sz="1000">
                        <a:solidFill>
                          <a:schemeClr val="dk1"/>
                        </a:solidFill>
                      </a:endParaRPr>
                    </a:p>
                    <a:p>
                      <a:pPr indent="0" lvl="0" marL="0" rtl="0" algn="l">
                        <a:spcBef>
                          <a:spcPts val="0"/>
                        </a:spcBef>
                        <a:spcAft>
                          <a:spcPts val="0"/>
                        </a:spcAft>
                        <a:buNone/>
                      </a:pPr>
                      <a:r>
                        <a:rPr b="1" lang="en" sz="1000">
                          <a:solidFill>
                            <a:schemeClr val="dk1"/>
                          </a:solidFill>
                        </a:rPr>
                        <a:t>Style:</a:t>
                      </a:r>
                      <a:endParaRPr b="1"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46.5%</a:t>
                      </a:r>
                      <a:endParaRPr sz="1000">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sz="1000">
                          <a:solidFill>
                            <a:schemeClr val="dk1"/>
                          </a:solidFill>
                        </a:rPr>
                        <a:t>M</a:t>
                      </a:r>
                      <a:r>
                        <a:rPr b="1" lang="en" sz="1000">
                          <a:solidFill>
                            <a:schemeClr val="dk1"/>
                          </a:solidFill>
                        </a:rPr>
                        <a:t>ap↔Aerial photo</a:t>
                      </a:r>
                      <a:endParaRPr sz="1000"/>
                    </a:p>
                  </a:txBody>
                  <a:tcPr marT="91425" marB="91425" marR="91425" marL="91425"/>
                </a:tc>
                <a:tc>
                  <a:txBody>
                    <a:bodyPr/>
                    <a:lstStyle/>
                    <a:p>
                      <a:pPr indent="0" lvl="0" marL="0" rtl="0" algn="l">
                        <a:spcBef>
                          <a:spcPts val="0"/>
                        </a:spcBef>
                        <a:spcAft>
                          <a:spcPts val="0"/>
                        </a:spcAft>
                        <a:buNone/>
                      </a:pPr>
                      <a:r>
                        <a:rPr lang="en" sz="1000"/>
                        <a:t>ATM</a:t>
                      </a:r>
                      <a:endParaRPr sz="1000"/>
                    </a:p>
                    <a:p>
                      <a:pPr indent="0" lvl="0" marL="0" rtl="0" algn="l">
                        <a:spcBef>
                          <a:spcPts val="0"/>
                        </a:spcBef>
                        <a:spcAft>
                          <a:spcPts val="0"/>
                        </a:spcAft>
                        <a:buNone/>
                      </a:pPr>
                      <a:r>
                        <a:rPr lang="en" sz="1000"/>
                        <a:t>Realness score</a:t>
                      </a:r>
                      <a:endParaRPr sz="1000"/>
                    </a:p>
                  </a:txBody>
                  <a:tcPr marT="91425" marB="91425" marR="91425" marL="91425"/>
                </a:tc>
              </a:tr>
              <a:tr h="847400">
                <a:tc>
                  <a:txBody>
                    <a:bodyPr/>
                    <a:lstStyle/>
                    <a:p>
                      <a:pPr indent="0" lvl="0" marL="0" rtl="0" algn="l">
                        <a:spcBef>
                          <a:spcPts val="0"/>
                        </a:spcBef>
                        <a:spcAft>
                          <a:spcPts val="0"/>
                        </a:spcAft>
                        <a:buNone/>
                      </a:pPr>
                      <a:r>
                        <a:rPr lang="en" sz="1000"/>
                        <a:t>[4]</a:t>
                      </a:r>
                      <a:endParaRPr sz="1000"/>
                    </a:p>
                  </a:txBody>
                  <a:tcPr marT="91425" marB="91425" marR="91425" marL="91425"/>
                </a:tc>
                <a:tc>
                  <a:txBody>
                    <a:bodyPr/>
                    <a:lstStyle/>
                    <a:p>
                      <a:pPr indent="0" lvl="0" marL="0" rtl="0" algn="l">
                        <a:spcBef>
                          <a:spcPts val="0"/>
                        </a:spcBef>
                        <a:spcAft>
                          <a:spcPts val="0"/>
                        </a:spcAft>
                        <a:buNone/>
                      </a:pPr>
                      <a:r>
                        <a:rPr lang="en" sz="1000"/>
                        <a:t>GANILLA</a:t>
                      </a:r>
                      <a:endParaRPr sz="1000"/>
                    </a:p>
                  </a:txBody>
                  <a:tcPr marT="91425" marB="91425" marR="91425" marL="91425"/>
                </a:tc>
                <a:tc>
                  <a:txBody>
                    <a:bodyPr/>
                    <a:lstStyle/>
                    <a:p>
                      <a:pPr indent="0" lvl="0" marL="0" rtl="0" algn="l">
                        <a:spcBef>
                          <a:spcPts val="0"/>
                        </a:spcBef>
                        <a:spcAft>
                          <a:spcPts val="0"/>
                        </a:spcAft>
                        <a:buNone/>
                      </a:pPr>
                      <a:r>
                        <a:rPr lang="en" sz="1000">
                          <a:solidFill>
                            <a:schemeClr val="dk1"/>
                          </a:solidFill>
                          <a:highlight>
                            <a:srgbClr val="FFFFFF"/>
                          </a:highlight>
                        </a:rPr>
                        <a:t>9500 illustrations from 24 different artists</a:t>
                      </a:r>
                      <a:endParaRPr sz="1000"/>
                    </a:p>
                  </a:txBody>
                  <a:tcPr marT="91425" marB="91425" marR="91425" marL="91425"/>
                </a:tc>
                <a:tc>
                  <a:txBody>
                    <a:bodyPr/>
                    <a:lstStyle/>
                    <a:p>
                      <a:pPr indent="0" lvl="0" marL="0" rtl="0" algn="l">
                        <a:spcBef>
                          <a:spcPts val="0"/>
                        </a:spcBef>
                        <a:spcAft>
                          <a:spcPts val="0"/>
                        </a:spcAft>
                        <a:buNone/>
                      </a:pPr>
                      <a:r>
                        <a:rPr b="1" lang="en" sz="1000">
                          <a:solidFill>
                            <a:schemeClr val="dk1"/>
                          </a:solidFill>
                        </a:rPr>
                        <a:t>Content:</a:t>
                      </a:r>
                      <a:endParaRPr b="1" sz="1000">
                        <a:solidFill>
                          <a:schemeClr val="dk1"/>
                        </a:solidFill>
                      </a:endParaRPr>
                    </a:p>
                    <a:p>
                      <a:pPr indent="0" lvl="0" marL="0" rtl="0" algn="l">
                        <a:spcBef>
                          <a:spcPts val="0"/>
                        </a:spcBef>
                        <a:spcAft>
                          <a:spcPts val="0"/>
                        </a:spcAft>
                        <a:buNone/>
                      </a:pPr>
                      <a:r>
                        <a:rPr lang="en" sz="1000">
                          <a:solidFill>
                            <a:schemeClr val="dk1"/>
                          </a:solidFill>
                        </a:rPr>
                        <a:t>20%</a:t>
                      </a:r>
                      <a:endParaRPr sz="1000">
                        <a:solidFill>
                          <a:schemeClr val="dk1"/>
                        </a:solidFill>
                      </a:endParaRPr>
                    </a:p>
                    <a:p>
                      <a:pPr indent="0" lvl="0" marL="0" rtl="0" algn="l">
                        <a:spcBef>
                          <a:spcPts val="0"/>
                        </a:spcBef>
                        <a:spcAft>
                          <a:spcPts val="0"/>
                        </a:spcAft>
                        <a:buNone/>
                      </a:pPr>
                      <a:r>
                        <a:rPr b="1" lang="en" sz="1000">
                          <a:solidFill>
                            <a:schemeClr val="dk1"/>
                          </a:solidFill>
                        </a:rPr>
                        <a:t>Style:</a:t>
                      </a:r>
                      <a:endParaRPr b="1" sz="1000">
                        <a:solidFill>
                          <a:schemeClr val="dk1"/>
                        </a:solidFill>
                      </a:endParaRPr>
                    </a:p>
                    <a:p>
                      <a:pPr indent="0" lvl="0" marL="0" rtl="0" algn="l">
                        <a:spcBef>
                          <a:spcPts val="0"/>
                        </a:spcBef>
                        <a:spcAft>
                          <a:spcPts val="0"/>
                        </a:spcAft>
                        <a:buNone/>
                      </a:pPr>
                      <a:r>
                        <a:rPr lang="en" sz="1000">
                          <a:solidFill>
                            <a:schemeClr val="dk1"/>
                          </a:solidFill>
                        </a:rPr>
                        <a:t>84.5</a:t>
                      </a:r>
                      <a:r>
                        <a:rPr lang="en" sz="1000">
                          <a:solidFill>
                            <a:schemeClr val="dk1"/>
                          </a:solidFill>
                        </a:rPr>
                        <a:t>%</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b="1" lang="en" sz="1000">
                          <a:solidFill>
                            <a:schemeClr val="dk1"/>
                          </a:solidFill>
                        </a:rPr>
                        <a:t>Style-transfer</a:t>
                      </a:r>
                      <a:endParaRPr b="1" sz="1000">
                        <a:solidFill>
                          <a:schemeClr val="dk1"/>
                        </a:solidFill>
                      </a:endParaRPr>
                    </a:p>
                    <a:p>
                      <a:pPr indent="0" lvl="0" marL="0" rtl="0" algn="l">
                        <a:spcBef>
                          <a:spcPts val="0"/>
                        </a:spcBef>
                        <a:spcAft>
                          <a:spcPts val="0"/>
                        </a:spcAft>
                        <a:buNone/>
                      </a:pPr>
                      <a:r>
                        <a:rPr b="1" lang="en" sz="1000">
                          <a:solidFill>
                            <a:schemeClr val="dk1"/>
                          </a:solidFill>
                        </a:rPr>
                        <a:t>Photo-Style image</a:t>
                      </a:r>
                      <a:endParaRPr b="1" sz="1000">
                        <a:solidFill>
                          <a:schemeClr val="dk1"/>
                        </a:solidFill>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rgbClr val="FFFFFF"/>
                          </a:highlight>
                        </a:rPr>
                        <a:t>CNN:classify style (artists) and content (scenery)</a:t>
                      </a:r>
                      <a:endParaRPr sz="1000">
                        <a:solidFill>
                          <a:schemeClr val="dk1"/>
                        </a:solidFill>
                        <a:highlight>
                          <a:srgbClr val="FFFFFF"/>
                        </a:highlight>
                      </a:endParaRPr>
                    </a:p>
                    <a:p>
                      <a:pPr indent="0" lvl="0" marL="0" rtl="0" algn="l">
                        <a:spcBef>
                          <a:spcPts val="0"/>
                        </a:spcBef>
                        <a:spcAft>
                          <a:spcPts val="0"/>
                        </a:spcAft>
                        <a:buNone/>
                      </a:pPr>
                      <a:r>
                        <a:t/>
                      </a:r>
                      <a:endParaRPr sz="1000"/>
                    </a:p>
                  </a:txBody>
                  <a:tcPr marT="91425" marB="91425" marR="91425" marL="91425"/>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Metrics and data augmentation</a:t>
            </a:r>
            <a:endParaRPr/>
          </a:p>
        </p:txBody>
      </p:sp>
      <p:sp>
        <p:nvSpPr>
          <p:cNvPr id="73" name="Google Shape;73;p16"/>
          <p:cNvSpPr txBox="1"/>
          <p:nvPr>
            <p:ph idx="1" type="body"/>
          </p:nvPr>
        </p:nvSpPr>
        <p:spPr>
          <a:xfrm>
            <a:off x="384550" y="11379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FID - Fréchet Inception Distance</a:t>
            </a:r>
            <a:r>
              <a:rPr lang="en"/>
              <a:t> (</a:t>
            </a:r>
            <a:r>
              <a:rPr lang="en" sz="1200"/>
              <a:t>the similarity between two probability distributions in a metric space</a:t>
            </a:r>
            <a:r>
              <a:rPr lang="en"/>
              <a:t>)</a:t>
            </a:r>
            <a:endParaRPr/>
          </a:p>
          <a:p>
            <a:pPr indent="0" lvl="0" marL="0" rtl="0" algn="l">
              <a:spcBef>
                <a:spcPts val="1200"/>
              </a:spcBef>
              <a:spcAft>
                <a:spcPts val="0"/>
              </a:spcAft>
              <a:buNone/>
            </a:pPr>
            <a:r>
              <a:rPr b="1" lang="en" sz="1200">
                <a:solidFill>
                  <a:srgbClr val="0F0F0F"/>
                </a:solidFill>
                <a:latin typeface="Roboto"/>
                <a:ea typeface="Roboto"/>
                <a:cs typeface="Roboto"/>
                <a:sym typeface="Roboto"/>
              </a:rPr>
              <a:t>Process:</a:t>
            </a:r>
            <a:endParaRPr b="1" sz="1200">
              <a:solidFill>
                <a:srgbClr val="0F0F0F"/>
              </a:solidFill>
              <a:latin typeface="Roboto"/>
              <a:ea typeface="Roboto"/>
              <a:cs typeface="Roboto"/>
              <a:sym typeface="Roboto"/>
            </a:endParaRPr>
          </a:p>
          <a:p>
            <a:pPr indent="-304800" lvl="0" marL="457200" rtl="0" algn="l">
              <a:spcBef>
                <a:spcPts val="1200"/>
              </a:spcBef>
              <a:spcAft>
                <a:spcPts val="0"/>
              </a:spcAft>
              <a:buClr>
                <a:schemeClr val="dk1"/>
              </a:buClr>
              <a:buSzPts val="1200"/>
              <a:buFont typeface="Roboto"/>
              <a:buChar char="●"/>
            </a:pPr>
            <a:r>
              <a:rPr lang="en" sz="1200">
                <a:solidFill>
                  <a:schemeClr val="dk1"/>
                </a:solidFill>
                <a:latin typeface="Roboto"/>
                <a:ea typeface="Roboto"/>
                <a:cs typeface="Roboto"/>
                <a:sym typeface="Roboto"/>
              </a:rPr>
              <a:t>Feature Extractor: Inception-v3 Classifier</a:t>
            </a:r>
            <a:endParaRPr sz="1200">
              <a:solidFill>
                <a:schemeClr val="dk1"/>
              </a:solidFill>
              <a:latin typeface="Roboto"/>
              <a:ea typeface="Roboto"/>
              <a:cs typeface="Roboto"/>
              <a:sym typeface="Roboto"/>
            </a:endParaRPr>
          </a:p>
          <a:p>
            <a:pPr indent="-304800" lvl="0" marL="457200" rtl="0" algn="l">
              <a:spcBef>
                <a:spcPts val="0"/>
              </a:spcBef>
              <a:spcAft>
                <a:spcPts val="0"/>
              </a:spcAft>
              <a:buClr>
                <a:srgbClr val="0F0F0F"/>
              </a:buClr>
              <a:buSzPts val="1200"/>
              <a:buFont typeface="Roboto"/>
              <a:buChar char="●"/>
            </a:pPr>
            <a:r>
              <a:rPr lang="en" sz="1200">
                <a:solidFill>
                  <a:srgbClr val="0F0F0F"/>
                </a:solidFill>
                <a:latin typeface="Roboto"/>
                <a:ea typeface="Roboto"/>
                <a:cs typeface="Roboto"/>
                <a:sym typeface="Roboto"/>
              </a:rPr>
              <a:t>Remove the output layer of the Inception-v3 classifier, retaining the intermediate layer outputs.</a:t>
            </a:r>
            <a:endParaRPr sz="1200">
              <a:solidFill>
                <a:srgbClr val="0F0F0F"/>
              </a:solidFill>
              <a:latin typeface="Roboto"/>
              <a:ea typeface="Roboto"/>
              <a:cs typeface="Roboto"/>
              <a:sym typeface="Roboto"/>
            </a:endParaRPr>
          </a:p>
          <a:p>
            <a:pPr indent="-304800" lvl="0" marL="457200" rtl="0" algn="l">
              <a:spcBef>
                <a:spcPts val="0"/>
              </a:spcBef>
              <a:spcAft>
                <a:spcPts val="0"/>
              </a:spcAft>
              <a:buClr>
                <a:srgbClr val="0F0F0F"/>
              </a:buClr>
              <a:buSzPts val="1200"/>
              <a:buFont typeface="Roboto"/>
              <a:buChar char="●"/>
            </a:pPr>
            <a:r>
              <a:rPr lang="en" sz="1200">
                <a:solidFill>
                  <a:srgbClr val="0F0F0F"/>
                </a:solidFill>
                <a:latin typeface="Roboto"/>
                <a:ea typeface="Roboto"/>
                <a:cs typeface="Roboto"/>
                <a:sym typeface="Roboto"/>
              </a:rPr>
              <a:t>Feed real and fake images through the modified Inception-v3 to obtain embeddings for each image.</a:t>
            </a:r>
            <a:endParaRPr sz="1200">
              <a:solidFill>
                <a:srgbClr val="0F0F0F"/>
              </a:solidFill>
              <a:latin typeface="Roboto"/>
              <a:ea typeface="Roboto"/>
              <a:cs typeface="Roboto"/>
              <a:sym typeface="Roboto"/>
            </a:endParaRPr>
          </a:p>
          <a:p>
            <a:pPr indent="-304800" lvl="0" marL="457200" rtl="0" algn="l">
              <a:spcBef>
                <a:spcPts val="0"/>
              </a:spcBef>
              <a:spcAft>
                <a:spcPts val="0"/>
              </a:spcAft>
              <a:buClr>
                <a:srgbClr val="0F0F0F"/>
              </a:buClr>
              <a:buSzPts val="1200"/>
              <a:buFont typeface="Roboto"/>
              <a:buChar char="●"/>
            </a:pPr>
            <a:r>
              <a:rPr lang="en" sz="1200">
                <a:solidFill>
                  <a:srgbClr val="0F0F0F"/>
                </a:solidFill>
                <a:latin typeface="Roboto"/>
                <a:ea typeface="Roboto"/>
                <a:cs typeface="Roboto"/>
                <a:sym typeface="Roboto"/>
              </a:rPr>
              <a:t>Treat the obtained embeddings as two multivariate normal distributions.</a:t>
            </a:r>
            <a:endParaRPr sz="1200">
              <a:solidFill>
                <a:srgbClr val="0F0F0F"/>
              </a:solidFill>
              <a:latin typeface="Roboto"/>
              <a:ea typeface="Roboto"/>
              <a:cs typeface="Roboto"/>
              <a:sym typeface="Roboto"/>
            </a:endParaRPr>
          </a:p>
          <a:p>
            <a:pPr indent="-304800" lvl="0" marL="457200" rtl="0" algn="l">
              <a:spcBef>
                <a:spcPts val="0"/>
              </a:spcBef>
              <a:spcAft>
                <a:spcPts val="0"/>
              </a:spcAft>
              <a:buClr>
                <a:srgbClr val="0F0F0F"/>
              </a:buClr>
              <a:buSzPts val="1200"/>
              <a:buFont typeface="Roboto"/>
              <a:buChar char="●"/>
            </a:pPr>
            <a:r>
              <a:rPr lang="en" sz="1200">
                <a:solidFill>
                  <a:srgbClr val="0F0F0F"/>
                </a:solidFill>
                <a:latin typeface="Roboto"/>
                <a:ea typeface="Roboto"/>
                <a:cs typeface="Roboto"/>
                <a:sym typeface="Roboto"/>
              </a:rPr>
              <a:t>Compute the Multivariate Normal Fréchet Distance between the two distributions.</a:t>
            </a:r>
            <a:endParaRPr sz="1200">
              <a:solidFill>
                <a:srgbClr val="0F0F0F"/>
              </a:solidFill>
              <a:latin typeface="Roboto"/>
              <a:ea typeface="Roboto"/>
              <a:cs typeface="Roboto"/>
              <a:sym typeface="Roboto"/>
            </a:endParaRPr>
          </a:p>
          <a:p>
            <a:pPr indent="0" lvl="0" marL="0" rtl="0" algn="l">
              <a:spcBef>
                <a:spcPts val="1200"/>
              </a:spcBef>
              <a:spcAft>
                <a:spcPts val="0"/>
              </a:spcAft>
              <a:buNone/>
            </a:pPr>
            <a:r>
              <a:rPr b="1" lang="en" sz="1200">
                <a:solidFill>
                  <a:srgbClr val="0F0F0F"/>
                </a:solidFill>
                <a:latin typeface="Roboto"/>
                <a:ea typeface="Roboto"/>
                <a:cs typeface="Roboto"/>
                <a:sym typeface="Roboto"/>
              </a:rPr>
              <a:t>Goal: </a:t>
            </a:r>
            <a:r>
              <a:rPr lang="en" sz="1200">
                <a:solidFill>
                  <a:srgbClr val="0F0F0F"/>
                </a:solidFill>
                <a:latin typeface="Roboto"/>
                <a:ea typeface="Roboto"/>
                <a:cs typeface="Roboto"/>
                <a:sym typeface="Roboto"/>
              </a:rPr>
              <a:t>To assess the feature distance between embeddings of real and fake images using statistical measures, providing a quantitative measure of the dissimilarity or similarity between the two distributions.</a:t>
            </a:r>
            <a:endParaRPr sz="1200">
              <a:solidFill>
                <a:srgbClr val="0F0F0F"/>
              </a:solidFill>
              <a:latin typeface="Roboto"/>
              <a:ea typeface="Roboto"/>
              <a:cs typeface="Roboto"/>
              <a:sym typeface="Roboto"/>
            </a:endParaRPr>
          </a:p>
          <a:p>
            <a:pPr indent="0" lvl="0" marL="0" rtl="0" algn="l">
              <a:spcBef>
                <a:spcPts val="1200"/>
              </a:spcBef>
              <a:spcAft>
                <a:spcPts val="1200"/>
              </a:spcAft>
              <a:buNone/>
            </a:pPr>
            <a:r>
              <a:t/>
            </a:r>
            <a:endParaRPr sz="1200">
              <a:solidFill>
                <a:srgbClr val="0F0F0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DualGAN [1]</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Our baseline model is DualGAN, which can be considered as a simpler CycleGAN model;</a:t>
            </a:r>
            <a:endParaRPr/>
          </a:p>
          <a:p>
            <a:pPr indent="-317500" lvl="1" marL="914400" rtl="0" algn="l">
              <a:spcBef>
                <a:spcPts val="0"/>
              </a:spcBef>
              <a:spcAft>
                <a:spcPts val="0"/>
              </a:spcAft>
              <a:buSzPts val="1400"/>
              <a:buChar char="○"/>
            </a:pPr>
            <a:r>
              <a:rPr lang="en"/>
              <a:t>Two GANs: one maps U to V and the other one maps V to U;</a:t>
            </a:r>
            <a:endParaRPr/>
          </a:p>
          <a:p>
            <a:pPr indent="-317500" lvl="1" marL="914400" rtl="0" algn="l">
              <a:spcBef>
                <a:spcPts val="0"/>
              </a:spcBef>
              <a:spcAft>
                <a:spcPts val="0"/>
              </a:spcAft>
              <a:buSzPts val="1400"/>
              <a:buChar char="○"/>
            </a:pPr>
            <a:r>
              <a:rPr lang="en"/>
              <a:t>Both Generators consist of downsampling layers and upsampling layers;</a:t>
            </a:r>
            <a:endParaRPr/>
          </a:p>
          <a:p>
            <a:pPr indent="-317500" lvl="1" marL="914400" rtl="0" algn="l">
              <a:spcBef>
                <a:spcPts val="0"/>
              </a:spcBef>
              <a:spcAft>
                <a:spcPts val="0"/>
              </a:spcAft>
              <a:buSzPts val="1400"/>
              <a:buChar char="○"/>
            </a:pPr>
            <a:r>
              <a:rPr lang="en"/>
              <a:t>Baseline: </a:t>
            </a:r>
            <a:endParaRPr/>
          </a:p>
          <a:p>
            <a:pPr indent="-317500" lvl="2" marL="1371600" rtl="0" algn="l">
              <a:spcBef>
                <a:spcPts val="0"/>
              </a:spcBef>
              <a:spcAft>
                <a:spcPts val="0"/>
              </a:spcAft>
              <a:buSzPts val="1400"/>
              <a:buChar char="■"/>
            </a:pPr>
            <a:r>
              <a:rPr lang="en"/>
              <a:t>FID = 190 after 200 epochs; FID = 140 after 1000 epochs (about 24 hours of training)</a:t>
            </a:r>
            <a:endParaRPr/>
          </a:p>
        </p:txBody>
      </p:sp>
      <p:pic>
        <p:nvPicPr>
          <p:cNvPr id="80" name="Google Shape;80;p17"/>
          <p:cNvPicPr preferRelativeResize="0"/>
          <p:nvPr/>
        </p:nvPicPr>
        <p:blipFill rotWithShape="1">
          <a:blip r:embed="rId3">
            <a:alphaModFix/>
          </a:blip>
          <a:srcRect b="26136" l="22984" r="4373" t="31454"/>
          <a:stretch/>
        </p:blipFill>
        <p:spPr>
          <a:xfrm>
            <a:off x="1250700" y="2962225"/>
            <a:ext cx="6642576" cy="21812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DualGAN first modification</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 mentioned before DualGAN consists of two GANs, both have identical Generator and Discriminator architectures: </a:t>
            </a:r>
            <a:endParaRPr/>
          </a:p>
          <a:p>
            <a:pPr indent="-317500" lvl="1" marL="914400" rtl="0" algn="l">
              <a:spcBef>
                <a:spcPts val="0"/>
              </a:spcBef>
              <a:spcAft>
                <a:spcPts val="0"/>
              </a:spcAft>
              <a:buSzPts val="1400"/>
              <a:buChar char="○"/>
            </a:pPr>
            <a:r>
              <a:rPr lang="en"/>
              <a:t>We adjusted the architecture in a way that it would have more complex architecture;</a:t>
            </a:r>
            <a:endParaRPr/>
          </a:p>
          <a:p>
            <a:pPr indent="-317500" lvl="1" marL="914400" rtl="0" algn="l">
              <a:spcBef>
                <a:spcPts val="0"/>
              </a:spcBef>
              <a:spcAft>
                <a:spcPts val="0"/>
              </a:spcAft>
              <a:buSzPts val="1400"/>
              <a:buChar char="○"/>
            </a:pPr>
            <a:r>
              <a:rPr lang="en"/>
              <a:t>More downsampling and upsampling layers for both Photo generator and Monet generator;</a:t>
            </a:r>
            <a:endParaRPr/>
          </a:p>
          <a:p>
            <a:pPr indent="-317500" lvl="1" marL="914400" rtl="0" algn="l">
              <a:spcBef>
                <a:spcPts val="0"/>
              </a:spcBef>
              <a:spcAft>
                <a:spcPts val="0"/>
              </a:spcAft>
              <a:buSzPts val="1400"/>
              <a:buChar char="○"/>
            </a:pPr>
            <a:r>
              <a:rPr lang="en"/>
              <a:t>Resultant FID = 130 after 25 epochs (about 2 hours of training).</a:t>
            </a:r>
            <a:endParaRPr/>
          </a:p>
        </p:txBody>
      </p:sp>
      <p:pic>
        <p:nvPicPr>
          <p:cNvPr id="87" name="Google Shape;87;p18"/>
          <p:cNvPicPr preferRelativeResize="0"/>
          <p:nvPr/>
        </p:nvPicPr>
        <p:blipFill rotWithShape="1">
          <a:blip r:embed="rId3">
            <a:alphaModFix/>
          </a:blip>
          <a:srcRect b="26136" l="22984" r="4373" t="31454"/>
          <a:stretch/>
        </p:blipFill>
        <p:spPr>
          <a:xfrm>
            <a:off x="1250700" y="2962225"/>
            <a:ext cx="6642576" cy="21812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DualGAN second modification</a:t>
            </a:r>
            <a:endParaRPr/>
          </a:p>
        </p:txBody>
      </p:sp>
      <p:pic>
        <p:nvPicPr>
          <p:cNvPr id="93" name="Google Shape;93;p19"/>
          <p:cNvPicPr preferRelativeResize="0"/>
          <p:nvPr/>
        </p:nvPicPr>
        <p:blipFill rotWithShape="1">
          <a:blip r:embed="rId3">
            <a:alphaModFix/>
          </a:blip>
          <a:srcRect b="26137" l="22984" r="4373" t="52086"/>
          <a:stretch/>
        </p:blipFill>
        <p:spPr>
          <a:xfrm>
            <a:off x="1250700" y="2658600"/>
            <a:ext cx="6642576" cy="1120049"/>
          </a:xfrm>
          <a:prstGeom prst="rect">
            <a:avLst/>
          </a:prstGeom>
          <a:noFill/>
          <a:ln>
            <a:noFill/>
          </a:ln>
        </p:spPr>
      </p:pic>
      <p:pic>
        <p:nvPicPr>
          <p:cNvPr id="94" name="Google Shape;94;p19"/>
          <p:cNvPicPr preferRelativeResize="0"/>
          <p:nvPr/>
        </p:nvPicPr>
        <p:blipFill rotWithShape="1">
          <a:blip r:embed="rId3">
            <a:alphaModFix/>
          </a:blip>
          <a:srcRect b="47913" l="22984" r="4373" t="31454"/>
          <a:stretch/>
        </p:blipFill>
        <p:spPr>
          <a:xfrm>
            <a:off x="1250713" y="1597375"/>
            <a:ext cx="6642576" cy="1061224"/>
          </a:xfrm>
          <a:prstGeom prst="rect">
            <a:avLst/>
          </a:prstGeom>
          <a:noFill/>
          <a:ln>
            <a:noFill/>
          </a:ln>
        </p:spPr>
      </p:pic>
      <p:pic>
        <p:nvPicPr>
          <p:cNvPr id="95" name="Google Shape;95;p19"/>
          <p:cNvPicPr preferRelativeResize="0"/>
          <p:nvPr/>
        </p:nvPicPr>
        <p:blipFill rotWithShape="1">
          <a:blip r:embed="rId3">
            <a:alphaModFix/>
          </a:blip>
          <a:srcRect b="26137" l="22984" r="4373" t="52086"/>
          <a:stretch/>
        </p:blipFill>
        <p:spPr>
          <a:xfrm>
            <a:off x="1250700" y="3529875"/>
            <a:ext cx="6642576" cy="1120049"/>
          </a:xfrm>
          <a:prstGeom prst="rect">
            <a:avLst/>
          </a:prstGeom>
          <a:noFill/>
          <a:ln>
            <a:noFill/>
          </a:ln>
        </p:spPr>
      </p:pic>
      <p:sp>
        <p:nvSpPr>
          <p:cNvPr id="96" name="Google Shape;96;p19"/>
          <p:cNvSpPr/>
          <p:nvPr/>
        </p:nvSpPr>
        <p:spPr>
          <a:xfrm>
            <a:off x="4048988" y="2803125"/>
            <a:ext cx="1401900" cy="572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 Residual Blocks</a:t>
            </a:r>
            <a:endParaRPr/>
          </a:p>
        </p:txBody>
      </p:sp>
      <p:cxnSp>
        <p:nvCxnSpPr>
          <p:cNvPr id="97" name="Google Shape;97;p19"/>
          <p:cNvCxnSpPr/>
          <p:nvPr/>
        </p:nvCxnSpPr>
        <p:spPr>
          <a:xfrm>
            <a:off x="3993838" y="2648050"/>
            <a:ext cx="600" cy="927900"/>
          </a:xfrm>
          <a:prstGeom prst="straightConnector1">
            <a:avLst/>
          </a:prstGeom>
          <a:noFill/>
          <a:ln cap="flat" cmpd="sng" w="28575">
            <a:solidFill>
              <a:srgbClr val="5B9BD5"/>
            </a:solidFill>
            <a:prstDash val="solid"/>
            <a:round/>
            <a:headEnd len="med" w="med" type="none"/>
            <a:tailEnd len="med" w="med" type="none"/>
          </a:ln>
        </p:spPr>
      </p:cxnSp>
      <p:cxnSp>
        <p:nvCxnSpPr>
          <p:cNvPr id="98" name="Google Shape;98;p19"/>
          <p:cNvCxnSpPr/>
          <p:nvPr/>
        </p:nvCxnSpPr>
        <p:spPr>
          <a:xfrm>
            <a:off x="5557363" y="2603025"/>
            <a:ext cx="2100" cy="972900"/>
          </a:xfrm>
          <a:prstGeom prst="straightConnector1">
            <a:avLst/>
          </a:prstGeom>
          <a:noFill/>
          <a:ln cap="flat" cmpd="sng" w="38100">
            <a:solidFill>
              <a:srgbClr val="FFC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900"/>
                                        <p:tgtEl>
                                          <p:spTgt spid="93"/>
                                        </p:tgtEl>
                                        <p:attrNameLst>
                                          <p:attrName>ppt_y</p:attrName>
                                        </p:attrNameLst>
                                      </p:cBhvr>
                                      <p:tavLst>
                                        <p:tav fmla="" tm="0">
                                          <p:val>
                                            <p:strVal val="#ppt_y"/>
                                          </p:val>
                                        </p:tav>
                                        <p:tav fmla="" tm="100000">
                                          <p:val>
                                            <p:strVal val="#ppt_y+1"/>
                                          </p:val>
                                        </p:tav>
                                      </p:tavLst>
                                    </p:anim>
                                    <p:set>
                                      <p:cBhvr>
                                        <p:cTn dur="1" fill="hold">
                                          <p:stCondLst>
                                            <p:cond delay="900"/>
                                          </p:stCondLst>
                                        </p:cTn>
                                        <p:tgtEl>
                                          <p:spTgt spid="9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
                                        <p:tgtEl>
                                          <p:spTgt spid="93"/>
                                        </p:tgtEl>
                                      </p:cBhvr>
                                    </p:animEffect>
                                    <p:set>
                                      <p:cBhvr>
                                        <p:cTn dur="1" fill="hold">
                                          <p:stCondLst>
                                            <p:cond delay="100"/>
                                          </p:stCondLst>
                                        </p:cTn>
                                        <p:tgtEl>
                                          <p:spTgt spid="9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DualGAN second modification continued</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Motivated by the structure of CycleGAN, we added residual blocks in between without adding </a:t>
            </a:r>
            <a:r>
              <a:rPr lang="en"/>
              <a:t>additional</a:t>
            </a:r>
            <a:r>
              <a:rPr lang="en"/>
              <a:t> downsampling and upsampling layers;</a:t>
            </a:r>
            <a:endParaRPr/>
          </a:p>
          <a:p>
            <a:pPr indent="-342900" lvl="0" marL="457200" rtl="0" algn="l">
              <a:spcBef>
                <a:spcPts val="0"/>
              </a:spcBef>
              <a:spcAft>
                <a:spcPts val="0"/>
              </a:spcAft>
              <a:buSzPts val="1800"/>
              <a:buChar char="●"/>
            </a:pPr>
            <a:r>
              <a:rPr lang="en"/>
              <a:t>The model was trained for 400 epochs (about 12 hours);</a:t>
            </a:r>
            <a:endParaRPr/>
          </a:p>
          <a:p>
            <a:pPr indent="-342900" lvl="0" marL="457200" rtl="0" algn="l">
              <a:spcBef>
                <a:spcPts val="0"/>
              </a:spcBef>
              <a:spcAft>
                <a:spcPts val="0"/>
              </a:spcAft>
              <a:buSzPts val="1800"/>
              <a:buChar char="●"/>
            </a:pPr>
            <a:r>
              <a:rPr lang="en"/>
              <a:t>The resultant FID = 400.</a:t>
            </a:r>
            <a:endParaRPr/>
          </a:p>
        </p:txBody>
      </p:sp>
      <p:pic>
        <p:nvPicPr>
          <p:cNvPr id="105" name="Google Shape;105;p20"/>
          <p:cNvPicPr preferRelativeResize="0"/>
          <p:nvPr/>
        </p:nvPicPr>
        <p:blipFill rotWithShape="1">
          <a:blip r:embed="rId3">
            <a:alphaModFix/>
          </a:blip>
          <a:srcRect b="47913" l="22984" r="4373" t="31454"/>
          <a:stretch/>
        </p:blipFill>
        <p:spPr>
          <a:xfrm>
            <a:off x="1758436" y="2971575"/>
            <a:ext cx="5627141" cy="755074"/>
          </a:xfrm>
          <a:prstGeom prst="rect">
            <a:avLst/>
          </a:prstGeom>
          <a:noFill/>
          <a:ln>
            <a:noFill/>
          </a:ln>
        </p:spPr>
      </p:pic>
      <p:pic>
        <p:nvPicPr>
          <p:cNvPr id="106" name="Google Shape;106;p20"/>
          <p:cNvPicPr preferRelativeResize="0"/>
          <p:nvPr/>
        </p:nvPicPr>
        <p:blipFill rotWithShape="1">
          <a:blip r:embed="rId3">
            <a:alphaModFix/>
          </a:blip>
          <a:srcRect b="26137" l="22984" r="4373" t="52086"/>
          <a:stretch/>
        </p:blipFill>
        <p:spPr>
          <a:xfrm>
            <a:off x="1758425" y="4346572"/>
            <a:ext cx="5627141" cy="796927"/>
          </a:xfrm>
          <a:prstGeom prst="rect">
            <a:avLst/>
          </a:prstGeom>
          <a:noFill/>
          <a:ln>
            <a:noFill/>
          </a:ln>
        </p:spPr>
      </p:pic>
      <p:sp>
        <p:nvSpPr>
          <p:cNvPr id="107" name="Google Shape;107;p20"/>
          <p:cNvSpPr/>
          <p:nvPr/>
        </p:nvSpPr>
        <p:spPr>
          <a:xfrm>
            <a:off x="4128944" y="3829480"/>
            <a:ext cx="1187700" cy="40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 Residual Blocks</a:t>
            </a:r>
            <a:endParaRPr/>
          </a:p>
        </p:txBody>
      </p:sp>
      <p:cxnSp>
        <p:nvCxnSpPr>
          <p:cNvPr id="108" name="Google Shape;108;p20"/>
          <p:cNvCxnSpPr/>
          <p:nvPr/>
        </p:nvCxnSpPr>
        <p:spPr>
          <a:xfrm>
            <a:off x="4082224" y="3719143"/>
            <a:ext cx="600" cy="660300"/>
          </a:xfrm>
          <a:prstGeom prst="straightConnector1">
            <a:avLst/>
          </a:prstGeom>
          <a:noFill/>
          <a:ln cap="flat" cmpd="sng" w="28575">
            <a:solidFill>
              <a:srgbClr val="5B9BD5"/>
            </a:solidFill>
            <a:prstDash val="solid"/>
            <a:round/>
            <a:headEnd len="med" w="med" type="none"/>
            <a:tailEnd len="med" w="med" type="none"/>
          </a:ln>
        </p:spPr>
      </p:cxnSp>
      <p:cxnSp>
        <p:nvCxnSpPr>
          <p:cNvPr id="109" name="Google Shape;109;p20"/>
          <p:cNvCxnSpPr/>
          <p:nvPr/>
        </p:nvCxnSpPr>
        <p:spPr>
          <a:xfrm>
            <a:off x="5406736" y="3687107"/>
            <a:ext cx="1800" cy="692100"/>
          </a:xfrm>
          <a:prstGeom prst="straightConnector1">
            <a:avLst/>
          </a:prstGeom>
          <a:noFill/>
          <a:ln cap="flat" cmpd="sng" w="38100">
            <a:solidFill>
              <a:srgbClr val="FFC000"/>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DualGAN qualitative results</a:t>
            </a:r>
            <a:endParaRPr/>
          </a:p>
        </p:txBody>
      </p:sp>
      <p:pic>
        <p:nvPicPr>
          <p:cNvPr id="115" name="Google Shape;115;p21"/>
          <p:cNvPicPr preferRelativeResize="0"/>
          <p:nvPr/>
        </p:nvPicPr>
        <p:blipFill>
          <a:blip r:embed="rId3">
            <a:alphaModFix/>
          </a:blip>
          <a:stretch>
            <a:fillRect/>
          </a:stretch>
        </p:blipFill>
        <p:spPr>
          <a:xfrm>
            <a:off x="1174300" y="1375900"/>
            <a:ext cx="2643900" cy="3767600"/>
          </a:xfrm>
          <a:prstGeom prst="rect">
            <a:avLst/>
          </a:prstGeom>
          <a:noFill/>
          <a:ln>
            <a:noFill/>
          </a:ln>
        </p:spPr>
      </p:pic>
      <p:sp>
        <p:nvSpPr>
          <p:cNvPr id="116" name="Google Shape;116;p21"/>
          <p:cNvSpPr txBox="1"/>
          <p:nvPr/>
        </p:nvSpPr>
        <p:spPr>
          <a:xfrm>
            <a:off x="5233475" y="1063913"/>
            <a:ext cx="26439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DualGAN with residual blocks</a:t>
            </a:r>
            <a:endParaRPr>
              <a:solidFill>
                <a:schemeClr val="dk2"/>
              </a:solidFill>
            </a:endParaRPr>
          </a:p>
        </p:txBody>
      </p:sp>
      <p:grpSp>
        <p:nvGrpSpPr>
          <p:cNvPr id="117" name="Google Shape;117;p21"/>
          <p:cNvGrpSpPr/>
          <p:nvPr/>
        </p:nvGrpSpPr>
        <p:grpSpPr>
          <a:xfrm>
            <a:off x="5215263" y="1375889"/>
            <a:ext cx="2680325" cy="3767617"/>
            <a:chOff x="102075" y="954800"/>
            <a:chExt cx="3109425" cy="4850801"/>
          </a:xfrm>
        </p:grpSpPr>
        <p:pic>
          <p:nvPicPr>
            <p:cNvPr id="118" name="Google Shape;118;p21"/>
            <p:cNvPicPr preferRelativeResize="0"/>
            <p:nvPr/>
          </p:nvPicPr>
          <p:blipFill rotWithShape="1">
            <a:blip r:embed="rId4">
              <a:alphaModFix/>
            </a:blip>
            <a:srcRect b="67935" l="0" r="0" t="0"/>
            <a:stretch/>
          </p:blipFill>
          <p:spPr>
            <a:xfrm>
              <a:off x="102075" y="954800"/>
              <a:ext cx="3109425" cy="1616947"/>
            </a:xfrm>
            <a:prstGeom prst="rect">
              <a:avLst/>
            </a:prstGeom>
            <a:noFill/>
            <a:ln>
              <a:noFill/>
            </a:ln>
          </p:spPr>
        </p:pic>
        <p:pic>
          <p:nvPicPr>
            <p:cNvPr id="119" name="Google Shape;119;p21"/>
            <p:cNvPicPr preferRelativeResize="0"/>
            <p:nvPr/>
          </p:nvPicPr>
          <p:blipFill rotWithShape="1">
            <a:blip r:embed="rId4">
              <a:alphaModFix/>
            </a:blip>
            <a:srcRect b="33969" l="0" r="0" t="33966"/>
            <a:stretch/>
          </p:blipFill>
          <p:spPr>
            <a:xfrm>
              <a:off x="102084" y="2571738"/>
              <a:ext cx="3109416" cy="1616925"/>
            </a:xfrm>
            <a:prstGeom prst="rect">
              <a:avLst/>
            </a:prstGeom>
            <a:noFill/>
            <a:ln>
              <a:noFill/>
            </a:ln>
          </p:spPr>
        </p:pic>
        <p:pic>
          <p:nvPicPr>
            <p:cNvPr id="120" name="Google Shape;120;p21"/>
            <p:cNvPicPr preferRelativeResize="0"/>
            <p:nvPr/>
          </p:nvPicPr>
          <p:blipFill rotWithShape="1">
            <a:blip r:embed="rId4">
              <a:alphaModFix/>
            </a:blip>
            <a:srcRect b="0" l="0" r="0" t="67935"/>
            <a:stretch/>
          </p:blipFill>
          <p:spPr>
            <a:xfrm>
              <a:off x="102075" y="4188655"/>
              <a:ext cx="3109425" cy="1616946"/>
            </a:xfrm>
            <a:prstGeom prst="rect">
              <a:avLst/>
            </a:prstGeom>
            <a:noFill/>
            <a:ln>
              <a:noFill/>
            </a:ln>
          </p:spPr>
        </p:pic>
      </p:grpSp>
      <p:sp>
        <p:nvSpPr>
          <p:cNvPr id="121" name="Google Shape;121;p21"/>
          <p:cNvSpPr txBox="1"/>
          <p:nvPr/>
        </p:nvSpPr>
        <p:spPr>
          <a:xfrm>
            <a:off x="939700" y="1063913"/>
            <a:ext cx="3113100" cy="26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DualGAN with improved architecture</a:t>
            </a: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DualGAN shortcomings</a:t>
            </a:r>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Improved architecture showed its effectiveness achieving the best DualGAN results after only 25 epochs;</a:t>
            </a:r>
            <a:endParaRPr/>
          </a:p>
          <a:p>
            <a:pPr indent="-342900" lvl="0" marL="457200" rtl="0" algn="l">
              <a:spcBef>
                <a:spcPts val="0"/>
              </a:spcBef>
              <a:spcAft>
                <a:spcPts val="0"/>
              </a:spcAft>
              <a:buSzPts val="1800"/>
              <a:buChar char="●"/>
            </a:pPr>
            <a:r>
              <a:rPr lang="en"/>
              <a:t>Adding residual blocks to generators also showed improvement: same FID = 140 after 400 epochs (the baseline after 1000 epochs);</a:t>
            </a:r>
            <a:endParaRPr/>
          </a:p>
          <a:p>
            <a:pPr indent="-342900" lvl="0" marL="457200" rtl="0" algn="l">
              <a:spcBef>
                <a:spcPts val="0"/>
              </a:spcBef>
              <a:spcAft>
                <a:spcPts val="0"/>
              </a:spcAft>
              <a:buSzPts val="1800"/>
              <a:buChar char="●"/>
            </a:pPr>
            <a:r>
              <a:rPr lang="en"/>
              <a:t>We possibly can integrate two approaches:</a:t>
            </a:r>
            <a:endParaRPr/>
          </a:p>
          <a:p>
            <a:pPr indent="-317500" lvl="1" marL="914400" rtl="0" algn="l">
              <a:spcBef>
                <a:spcPts val="0"/>
              </a:spcBef>
              <a:spcAft>
                <a:spcPts val="0"/>
              </a:spcAft>
              <a:buSzPts val="1400"/>
              <a:buChar char="○"/>
            </a:pPr>
            <a:r>
              <a:rPr lang="en"/>
              <a:t>We could not implement this because of the lack of the computational power;</a:t>
            </a:r>
            <a:endParaRPr/>
          </a:p>
          <a:p>
            <a:pPr indent="-317500" lvl="1" marL="914400" rtl="0" algn="l">
              <a:spcBef>
                <a:spcPts val="0"/>
              </a:spcBef>
              <a:spcAft>
                <a:spcPts val="0"/>
              </a:spcAft>
              <a:buSzPts val="1400"/>
              <a:buChar char="○"/>
            </a:pPr>
            <a:r>
              <a:rPr lang="en"/>
              <a:t>Implementing this might achieve the best DualGAN implementation among others;</a:t>
            </a:r>
            <a:endParaRPr/>
          </a:p>
          <a:p>
            <a:pPr indent="-317500" lvl="1" marL="914400" rtl="0" algn="l">
              <a:spcBef>
                <a:spcPts val="0"/>
              </a:spcBef>
              <a:spcAft>
                <a:spcPts val="0"/>
              </a:spcAft>
              <a:buSzPts val="1400"/>
              <a:buChar char="○"/>
            </a:pPr>
            <a:r>
              <a:rPr lang="en"/>
              <a:t>Still, the results are decent.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CycleGAN [2]</a:t>
            </a:r>
            <a:endParaRPr/>
          </a:p>
        </p:txBody>
      </p:sp>
      <p:pic>
        <p:nvPicPr>
          <p:cNvPr id="133" name="Google Shape;133;p23"/>
          <p:cNvPicPr preferRelativeResize="0"/>
          <p:nvPr/>
        </p:nvPicPr>
        <p:blipFill rotWithShape="1">
          <a:blip r:embed="rId3">
            <a:alphaModFix/>
          </a:blip>
          <a:srcRect b="47913" l="22984" r="4373" t="31454"/>
          <a:stretch/>
        </p:blipFill>
        <p:spPr>
          <a:xfrm>
            <a:off x="1758436" y="2971575"/>
            <a:ext cx="5627141" cy="755074"/>
          </a:xfrm>
          <a:prstGeom prst="rect">
            <a:avLst/>
          </a:prstGeom>
          <a:noFill/>
          <a:ln>
            <a:noFill/>
          </a:ln>
        </p:spPr>
      </p:pic>
      <p:pic>
        <p:nvPicPr>
          <p:cNvPr id="134" name="Google Shape;134;p23"/>
          <p:cNvPicPr preferRelativeResize="0"/>
          <p:nvPr/>
        </p:nvPicPr>
        <p:blipFill rotWithShape="1">
          <a:blip r:embed="rId3">
            <a:alphaModFix/>
          </a:blip>
          <a:srcRect b="26137" l="22984" r="4373" t="52086"/>
          <a:stretch/>
        </p:blipFill>
        <p:spPr>
          <a:xfrm>
            <a:off x="1758425" y="4346572"/>
            <a:ext cx="5627141" cy="796927"/>
          </a:xfrm>
          <a:prstGeom prst="rect">
            <a:avLst/>
          </a:prstGeom>
          <a:noFill/>
          <a:ln>
            <a:noFill/>
          </a:ln>
        </p:spPr>
      </p:pic>
      <p:sp>
        <p:nvSpPr>
          <p:cNvPr id="135" name="Google Shape;135;p23"/>
          <p:cNvSpPr/>
          <p:nvPr/>
        </p:nvSpPr>
        <p:spPr>
          <a:xfrm>
            <a:off x="4128944" y="3829480"/>
            <a:ext cx="1187700" cy="40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Residual Blocks</a:t>
            </a:r>
            <a:endParaRPr/>
          </a:p>
        </p:txBody>
      </p:sp>
      <p:cxnSp>
        <p:nvCxnSpPr>
          <p:cNvPr id="136" name="Google Shape;136;p23"/>
          <p:cNvCxnSpPr/>
          <p:nvPr/>
        </p:nvCxnSpPr>
        <p:spPr>
          <a:xfrm>
            <a:off x="4082224" y="3719143"/>
            <a:ext cx="600" cy="660300"/>
          </a:xfrm>
          <a:prstGeom prst="straightConnector1">
            <a:avLst/>
          </a:prstGeom>
          <a:noFill/>
          <a:ln cap="flat" cmpd="sng" w="28575">
            <a:solidFill>
              <a:srgbClr val="5B9BD5"/>
            </a:solidFill>
            <a:prstDash val="solid"/>
            <a:round/>
            <a:headEnd len="med" w="med" type="none"/>
            <a:tailEnd len="med" w="med" type="none"/>
          </a:ln>
        </p:spPr>
      </p:cxnSp>
      <p:cxnSp>
        <p:nvCxnSpPr>
          <p:cNvPr id="137" name="Google Shape;137;p23"/>
          <p:cNvCxnSpPr/>
          <p:nvPr/>
        </p:nvCxnSpPr>
        <p:spPr>
          <a:xfrm>
            <a:off x="5406736" y="3687107"/>
            <a:ext cx="1800" cy="692100"/>
          </a:xfrm>
          <a:prstGeom prst="straightConnector1">
            <a:avLst/>
          </a:prstGeom>
          <a:noFill/>
          <a:ln cap="flat" cmpd="sng" w="38100">
            <a:solidFill>
              <a:srgbClr val="FFC000"/>
            </a:solidFill>
            <a:prstDash val="solid"/>
            <a:round/>
            <a:headEnd len="med" w="med" type="none"/>
            <a:tailEnd len="med" w="med" type="none"/>
          </a:ln>
        </p:spPr>
      </p:cxnSp>
      <p:pic>
        <p:nvPicPr>
          <p:cNvPr id="138" name="Google Shape;138;p23"/>
          <p:cNvPicPr preferRelativeResize="0"/>
          <p:nvPr/>
        </p:nvPicPr>
        <p:blipFill rotWithShape="1">
          <a:blip r:embed="rId3">
            <a:alphaModFix/>
          </a:blip>
          <a:srcRect b="45130" l="70692" r="24888" t="52086"/>
          <a:stretch/>
        </p:blipFill>
        <p:spPr>
          <a:xfrm>
            <a:off x="5456325" y="3723050"/>
            <a:ext cx="342274" cy="101874"/>
          </a:xfrm>
          <a:prstGeom prst="rect">
            <a:avLst/>
          </a:prstGeom>
          <a:noFill/>
          <a:ln>
            <a:noFill/>
          </a:ln>
        </p:spPr>
      </p:pic>
      <p:cxnSp>
        <p:nvCxnSpPr>
          <p:cNvPr id="139" name="Google Shape;139;p23"/>
          <p:cNvCxnSpPr/>
          <p:nvPr/>
        </p:nvCxnSpPr>
        <p:spPr>
          <a:xfrm flipH="1">
            <a:off x="5435975" y="3309425"/>
            <a:ext cx="5100" cy="1352400"/>
          </a:xfrm>
          <a:prstGeom prst="straightConnector1">
            <a:avLst/>
          </a:prstGeom>
          <a:noFill/>
          <a:ln cap="flat" cmpd="sng" w="28575">
            <a:solidFill>
              <a:srgbClr val="5B9BD5"/>
            </a:solidFill>
            <a:prstDash val="solid"/>
            <a:round/>
            <a:headEnd len="med" w="med" type="none"/>
            <a:tailEnd len="med" w="med" type="none"/>
          </a:ln>
        </p:spPr>
      </p:cxnSp>
      <p:cxnSp>
        <p:nvCxnSpPr>
          <p:cNvPr id="140" name="Google Shape;140;p23"/>
          <p:cNvCxnSpPr/>
          <p:nvPr/>
        </p:nvCxnSpPr>
        <p:spPr>
          <a:xfrm>
            <a:off x="5435975" y="4594575"/>
            <a:ext cx="0" cy="115200"/>
          </a:xfrm>
          <a:prstGeom prst="straightConnector1">
            <a:avLst/>
          </a:prstGeom>
          <a:noFill/>
          <a:ln cap="flat" cmpd="sng" w="9525">
            <a:solidFill>
              <a:srgbClr val="5B9BD5"/>
            </a:solidFill>
            <a:prstDash val="solid"/>
            <a:round/>
            <a:headEnd len="med" w="med" type="none"/>
            <a:tailEnd len="med" w="med" type="triangle"/>
          </a:ln>
        </p:spPr>
      </p:cxnSp>
      <p:cxnSp>
        <p:nvCxnSpPr>
          <p:cNvPr id="141" name="Google Shape;141;p23"/>
          <p:cNvCxnSpPr/>
          <p:nvPr/>
        </p:nvCxnSpPr>
        <p:spPr>
          <a:xfrm>
            <a:off x="3795350" y="3505900"/>
            <a:ext cx="0" cy="1005000"/>
          </a:xfrm>
          <a:prstGeom prst="straightConnector1">
            <a:avLst/>
          </a:prstGeom>
          <a:noFill/>
          <a:ln cap="flat" cmpd="sng" w="28575">
            <a:solidFill>
              <a:srgbClr val="FFC000"/>
            </a:solidFill>
            <a:prstDash val="solid"/>
            <a:round/>
            <a:headEnd len="med" w="med" type="none"/>
            <a:tailEnd len="med" w="med" type="none"/>
          </a:ln>
        </p:spPr>
      </p:cxnSp>
      <p:cxnSp>
        <p:nvCxnSpPr>
          <p:cNvPr id="142" name="Google Shape;142;p23"/>
          <p:cNvCxnSpPr/>
          <p:nvPr/>
        </p:nvCxnSpPr>
        <p:spPr>
          <a:xfrm flipH="1" rot="10800000">
            <a:off x="3794600" y="3465400"/>
            <a:ext cx="1500" cy="98400"/>
          </a:xfrm>
          <a:prstGeom prst="straightConnector1">
            <a:avLst/>
          </a:prstGeom>
          <a:noFill/>
          <a:ln cap="flat" cmpd="sng" w="9525">
            <a:solidFill>
              <a:srgbClr val="FFC000"/>
            </a:solidFill>
            <a:prstDash val="solid"/>
            <a:round/>
            <a:headEnd len="med" w="med" type="none"/>
            <a:tailEnd len="med" w="med" type="triangle"/>
          </a:ln>
        </p:spPr>
      </p:cxnSp>
      <p:cxnSp>
        <p:nvCxnSpPr>
          <p:cNvPr id="143" name="Google Shape;143;p23"/>
          <p:cNvCxnSpPr/>
          <p:nvPr/>
        </p:nvCxnSpPr>
        <p:spPr>
          <a:xfrm>
            <a:off x="5740775" y="4899375"/>
            <a:ext cx="0" cy="115200"/>
          </a:xfrm>
          <a:prstGeom prst="straightConnector1">
            <a:avLst/>
          </a:prstGeom>
          <a:noFill/>
          <a:ln cap="flat" cmpd="sng" w="9525">
            <a:solidFill>
              <a:srgbClr val="5B9BD5"/>
            </a:solidFill>
            <a:prstDash val="solid"/>
            <a:round/>
            <a:headEnd len="med" w="med" type="none"/>
            <a:tailEnd len="med" w="med" type="triangle"/>
          </a:ln>
        </p:spPr>
      </p:cxnSp>
      <p:sp>
        <p:nvSpPr>
          <p:cNvPr id="144" name="Google Shape;144;p23"/>
          <p:cNvSpPr txBox="1"/>
          <p:nvPr>
            <p:ph idx="1" type="body"/>
          </p:nvPr>
        </p:nvSpPr>
        <p:spPr>
          <a:xfrm>
            <a:off x="311700" y="1152475"/>
            <a:ext cx="8520600" cy="1890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architecture of the CycleGAN is </a:t>
            </a:r>
            <a:r>
              <a:rPr lang="en"/>
              <a:t>similar</a:t>
            </a:r>
            <a:r>
              <a:rPr lang="en"/>
              <a:t> to DualGAN</a:t>
            </a:r>
            <a:endParaRPr/>
          </a:p>
          <a:p>
            <a:pPr indent="-342900" lvl="0" marL="457200" rtl="0" algn="l">
              <a:spcBef>
                <a:spcPts val="0"/>
              </a:spcBef>
              <a:spcAft>
                <a:spcPts val="0"/>
              </a:spcAft>
              <a:buSzPts val="1800"/>
              <a:buChar char="●"/>
            </a:pPr>
            <a:r>
              <a:rPr lang="en"/>
              <a:t>Optional identity loss = (U -&gt; V) - </a:t>
            </a:r>
            <a:r>
              <a:rPr lang="en"/>
              <a:t>V</a:t>
            </a:r>
            <a:endParaRPr/>
          </a:p>
          <a:p>
            <a:pPr indent="-342900" lvl="0" marL="457200" rtl="0" algn="l">
              <a:spcBef>
                <a:spcPts val="0"/>
              </a:spcBef>
              <a:spcAft>
                <a:spcPts val="0"/>
              </a:spcAft>
              <a:buSzPts val="1800"/>
              <a:buChar char="●"/>
            </a:pPr>
            <a:r>
              <a:rPr lang="en"/>
              <a:t>Resultant FID = 124 (after 20 epochs == about 10 hours of training and without Identity loss); FID = 110 with Identity loss (after 20 epochs == 10 hours)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CycleGAN modification</a:t>
            </a:r>
            <a:endParaRPr/>
          </a:p>
        </p:txBody>
      </p:sp>
      <p:pic>
        <p:nvPicPr>
          <p:cNvPr id="150" name="Google Shape;150;p24"/>
          <p:cNvPicPr preferRelativeResize="0"/>
          <p:nvPr/>
        </p:nvPicPr>
        <p:blipFill rotWithShape="1">
          <a:blip r:embed="rId3">
            <a:alphaModFix/>
          </a:blip>
          <a:srcRect b="47913" l="22984" r="4373" t="31454"/>
          <a:stretch/>
        </p:blipFill>
        <p:spPr>
          <a:xfrm>
            <a:off x="1758436" y="2971575"/>
            <a:ext cx="5627141" cy="755074"/>
          </a:xfrm>
          <a:prstGeom prst="rect">
            <a:avLst/>
          </a:prstGeom>
          <a:noFill/>
          <a:ln>
            <a:noFill/>
          </a:ln>
        </p:spPr>
      </p:pic>
      <p:pic>
        <p:nvPicPr>
          <p:cNvPr id="151" name="Google Shape;151;p24"/>
          <p:cNvPicPr preferRelativeResize="0"/>
          <p:nvPr/>
        </p:nvPicPr>
        <p:blipFill rotWithShape="1">
          <a:blip r:embed="rId3">
            <a:alphaModFix/>
          </a:blip>
          <a:srcRect b="26137" l="22984" r="4373" t="52086"/>
          <a:stretch/>
        </p:blipFill>
        <p:spPr>
          <a:xfrm>
            <a:off x="1758425" y="4346572"/>
            <a:ext cx="5627141" cy="796927"/>
          </a:xfrm>
          <a:prstGeom prst="rect">
            <a:avLst/>
          </a:prstGeom>
          <a:noFill/>
          <a:ln>
            <a:noFill/>
          </a:ln>
        </p:spPr>
      </p:pic>
      <p:sp>
        <p:nvSpPr>
          <p:cNvPr id="152" name="Google Shape;152;p24"/>
          <p:cNvSpPr/>
          <p:nvPr/>
        </p:nvSpPr>
        <p:spPr>
          <a:xfrm>
            <a:off x="4128944" y="3829480"/>
            <a:ext cx="1187700" cy="407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Inception </a:t>
            </a:r>
            <a:r>
              <a:rPr lang="en"/>
              <a:t>Blocks</a:t>
            </a:r>
            <a:endParaRPr/>
          </a:p>
        </p:txBody>
      </p:sp>
      <p:cxnSp>
        <p:nvCxnSpPr>
          <p:cNvPr id="153" name="Google Shape;153;p24"/>
          <p:cNvCxnSpPr/>
          <p:nvPr/>
        </p:nvCxnSpPr>
        <p:spPr>
          <a:xfrm>
            <a:off x="4082224" y="3719143"/>
            <a:ext cx="600" cy="660300"/>
          </a:xfrm>
          <a:prstGeom prst="straightConnector1">
            <a:avLst/>
          </a:prstGeom>
          <a:noFill/>
          <a:ln cap="flat" cmpd="sng" w="28575">
            <a:solidFill>
              <a:srgbClr val="5B9BD5"/>
            </a:solidFill>
            <a:prstDash val="solid"/>
            <a:round/>
            <a:headEnd len="med" w="med" type="none"/>
            <a:tailEnd len="med" w="med" type="none"/>
          </a:ln>
        </p:spPr>
      </p:cxnSp>
      <p:cxnSp>
        <p:nvCxnSpPr>
          <p:cNvPr id="154" name="Google Shape;154;p24"/>
          <p:cNvCxnSpPr/>
          <p:nvPr/>
        </p:nvCxnSpPr>
        <p:spPr>
          <a:xfrm>
            <a:off x="5406736" y="3687107"/>
            <a:ext cx="1800" cy="692100"/>
          </a:xfrm>
          <a:prstGeom prst="straightConnector1">
            <a:avLst/>
          </a:prstGeom>
          <a:noFill/>
          <a:ln cap="flat" cmpd="sng" w="38100">
            <a:solidFill>
              <a:srgbClr val="FFC000"/>
            </a:solidFill>
            <a:prstDash val="solid"/>
            <a:round/>
            <a:headEnd len="med" w="med" type="none"/>
            <a:tailEnd len="med" w="med" type="none"/>
          </a:ln>
        </p:spPr>
      </p:cxnSp>
      <p:pic>
        <p:nvPicPr>
          <p:cNvPr id="155" name="Google Shape;155;p24"/>
          <p:cNvPicPr preferRelativeResize="0"/>
          <p:nvPr/>
        </p:nvPicPr>
        <p:blipFill rotWithShape="1">
          <a:blip r:embed="rId3">
            <a:alphaModFix/>
          </a:blip>
          <a:srcRect b="45130" l="70692" r="24888" t="52086"/>
          <a:stretch/>
        </p:blipFill>
        <p:spPr>
          <a:xfrm>
            <a:off x="5456325" y="3723050"/>
            <a:ext cx="342274" cy="101874"/>
          </a:xfrm>
          <a:prstGeom prst="rect">
            <a:avLst/>
          </a:prstGeom>
          <a:noFill/>
          <a:ln>
            <a:noFill/>
          </a:ln>
        </p:spPr>
      </p:pic>
      <p:cxnSp>
        <p:nvCxnSpPr>
          <p:cNvPr id="156" name="Google Shape;156;p24"/>
          <p:cNvCxnSpPr/>
          <p:nvPr/>
        </p:nvCxnSpPr>
        <p:spPr>
          <a:xfrm flipH="1">
            <a:off x="5435975" y="3309425"/>
            <a:ext cx="5100" cy="1352400"/>
          </a:xfrm>
          <a:prstGeom prst="straightConnector1">
            <a:avLst/>
          </a:prstGeom>
          <a:noFill/>
          <a:ln cap="flat" cmpd="sng" w="28575">
            <a:solidFill>
              <a:srgbClr val="5B9BD5"/>
            </a:solidFill>
            <a:prstDash val="solid"/>
            <a:round/>
            <a:headEnd len="med" w="med" type="none"/>
            <a:tailEnd len="med" w="med" type="none"/>
          </a:ln>
        </p:spPr>
      </p:cxnSp>
      <p:cxnSp>
        <p:nvCxnSpPr>
          <p:cNvPr id="157" name="Google Shape;157;p24"/>
          <p:cNvCxnSpPr/>
          <p:nvPr/>
        </p:nvCxnSpPr>
        <p:spPr>
          <a:xfrm>
            <a:off x="5435975" y="4594575"/>
            <a:ext cx="0" cy="115200"/>
          </a:xfrm>
          <a:prstGeom prst="straightConnector1">
            <a:avLst/>
          </a:prstGeom>
          <a:noFill/>
          <a:ln cap="flat" cmpd="sng" w="9525">
            <a:solidFill>
              <a:srgbClr val="5B9BD5"/>
            </a:solidFill>
            <a:prstDash val="solid"/>
            <a:round/>
            <a:headEnd len="med" w="med" type="none"/>
            <a:tailEnd len="med" w="med" type="triangle"/>
          </a:ln>
        </p:spPr>
      </p:cxnSp>
      <p:cxnSp>
        <p:nvCxnSpPr>
          <p:cNvPr id="158" name="Google Shape;158;p24"/>
          <p:cNvCxnSpPr/>
          <p:nvPr/>
        </p:nvCxnSpPr>
        <p:spPr>
          <a:xfrm>
            <a:off x="3795350" y="3505900"/>
            <a:ext cx="0" cy="1005000"/>
          </a:xfrm>
          <a:prstGeom prst="straightConnector1">
            <a:avLst/>
          </a:prstGeom>
          <a:noFill/>
          <a:ln cap="flat" cmpd="sng" w="28575">
            <a:solidFill>
              <a:srgbClr val="FFC000"/>
            </a:solidFill>
            <a:prstDash val="solid"/>
            <a:round/>
            <a:headEnd len="med" w="med" type="none"/>
            <a:tailEnd len="med" w="med" type="none"/>
          </a:ln>
        </p:spPr>
      </p:cxnSp>
      <p:cxnSp>
        <p:nvCxnSpPr>
          <p:cNvPr id="159" name="Google Shape;159;p24"/>
          <p:cNvCxnSpPr/>
          <p:nvPr/>
        </p:nvCxnSpPr>
        <p:spPr>
          <a:xfrm flipH="1" rot="10800000">
            <a:off x="3794600" y="3465400"/>
            <a:ext cx="1500" cy="98400"/>
          </a:xfrm>
          <a:prstGeom prst="straightConnector1">
            <a:avLst/>
          </a:prstGeom>
          <a:noFill/>
          <a:ln cap="flat" cmpd="sng" w="9525">
            <a:solidFill>
              <a:srgbClr val="FFC000"/>
            </a:solidFill>
            <a:prstDash val="solid"/>
            <a:round/>
            <a:headEnd len="med" w="med" type="none"/>
            <a:tailEnd len="med" w="med" type="triangle"/>
          </a:ln>
        </p:spPr>
      </p:cxnSp>
      <p:cxnSp>
        <p:nvCxnSpPr>
          <p:cNvPr id="160" name="Google Shape;160;p24"/>
          <p:cNvCxnSpPr/>
          <p:nvPr/>
        </p:nvCxnSpPr>
        <p:spPr>
          <a:xfrm>
            <a:off x="5740775" y="4899375"/>
            <a:ext cx="0" cy="115200"/>
          </a:xfrm>
          <a:prstGeom prst="straightConnector1">
            <a:avLst/>
          </a:prstGeom>
          <a:noFill/>
          <a:ln cap="flat" cmpd="sng" w="9525">
            <a:solidFill>
              <a:srgbClr val="5B9BD5"/>
            </a:solidFill>
            <a:prstDash val="solid"/>
            <a:round/>
            <a:headEnd len="med" w="med" type="none"/>
            <a:tailEnd len="med" w="med" type="triangle"/>
          </a:ln>
        </p:spPr>
      </p:cxnSp>
      <p:sp>
        <p:nvSpPr>
          <p:cNvPr id="161" name="Google Shape;161;p24"/>
          <p:cNvSpPr txBox="1"/>
          <p:nvPr>
            <p:ph idx="1" type="body"/>
          </p:nvPr>
        </p:nvSpPr>
        <p:spPr>
          <a:xfrm>
            <a:off x="311700" y="1152475"/>
            <a:ext cx="8520600" cy="165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replaced Residual blocks with Inception blocks and tuned the parameters;</a:t>
            </a:r>
            <a:endParaRPr/>
          </a:p>
          <a:p>
            <a:pPr indent="-342900" lvl="0" marL="457200" rtl="0" algn="l">
              <a:spcBef>
                <a:spcPts val="0"/>
              </a:spcBef>
              <a:spcAft>
                <a:spcPts val="0"/>
              </a:spcAft>
              <a:buSzPts val="1800"/>
              <a:buChar char="●"/>
            </a:pPr>
            <a:r>
              <a:rPr lang="en"/>
              <a:t>Training takes faster (20 epochs == 8 hours);</a:t>
            </a:r>
            <a:endParaRPr/>
          </a:p>
          <a:p>
            <a:pPr indent="-342900" lvl="0" marL="457200" rtl="0" algn="l">
              <a:spcBef>
                <a:spcPts val="0"/>
              </a:spcBef>
              <a:spcAft>
                <a:spcPts val="0"/>
              </a:spcAft>
              <a:buSzPts val="1800"/>
              <a:buChar char="●"/>
            </a:pPr>
            <a:r>
              <a:rPr lang="en"/>
              <a:t>Resultant FID = 109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CycleGAN qualitative results</a:t>
            </a:r>
            <a:endParaRPr/>
          </a:p>
        </p:txBody>
      </p:sp>
      <p:sp>
        <p:nvSpPr>
          <p:cNvPr id="167" name="Google Shape;167;p25"/>
          <p:cNvSpPr txBox="1"/>
          <p:nvPr/>
        </p:nvSpPr>
        <p:spPr>
          <a:xfrm>
            <a:off x="1232050" y="3918250"/>
            <a:ext cx="2192400" cy="5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CycleGAN with ResNET</a:t>
            </a:r>
            <a:endParaRPr>
              <a:solidFill>
                <a:schemeClr val="dk2"/>
              </a:solidFill>
            </a:endParaRPr>
          </a:p>
        </p:txBody>
      </p:sp>
      <p:sp>
        <p:nvSpPr>
          <p:cNvPr id="168" name="Google Shape;168;p25"/>
          <p:cNvSpPr txBox="1"/>
          <p:nvPr/>
        </p:nvSpPr>
        <p:spPr>
          <a:xfrm>
            <a:off x="5832825" y="3918250"/>
            <a:ext cx="2192400" cy="5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CycleGAN with Inception</a:t>
            </a:r>
            <a:endParaRPr>
              <a:solidFill>
                <a:schemeClr val="dk2"/>
              </a:solidFill>
            </a:endParaRPr>
          </a:p>
        </p:txBody>
      </p:sp>
      <p:pic>
        <p:nvPicPr>
          <p:cNvPr id="169" name="Google Shape;169;p25"/>
          <p:cNvPicPr preferRelativeResize="0"/>
          <p:nvPr/>
        </p:nvPicPr>
        <p:blipFill>
          <a:blip r:embed="rId3">
            <a:alphaModFix/>
          </a:blip>
          <a:stretch>
            <a:fillRect/>
          </a:stretch>
        </p:blipFill>
        <p:spPr>
          <a:xfrm>
            <a:off x="5179650" y="1151100"/>
            <a:ext cx="3462025" cy="1383675"/>
          </a:xfrm>
          <a:prstGeom prst="rect">
            <a:avLst/>
          </a:prstGeom>
          <a:noFill/>
          <a:ln>
            <a:noFill/>
          </a:ln>
        </p:spPr>
      </p:pic>
      <p:pic>
        <p:nvPicPr>
          <p:cNvPr id="170" name="Google Shape;170;p25"/>
          <p:cNvPicPr preferRelativeResize="0"/>
          <p:nvPr/>
        </p:nvPicPr>
        <p:blipFill>
          <a:blip r:embed="rId4">
            <a:alphaModFix/>
          </a:blip>
          <a:stretch>
            <a:fillRect/>
          </a:stretch>
        </p:blipFill>
        <p:spPr>
          <a:xfrm>
            <a:off x="647950" y="1146487"/>
            <a:ext cx="3462000" cy="1392900"/>
          </a:xfrm>
          <a:prstGeom prst="rect">
            <a:avLst/>
          </a:prstGeom>
          <a:noFill/>
          <a:ln>
            <a:noFill/>
          </a:ln>
        </p:spPr>
      </p:pic>
      <p:pic>
        <p:nvPicPr>
          <p:cNvPr id="171" name="Google Shape;171;p25"/>
          <p:cNvPicPr preferRelativeResize="0"/>
          <p:nvPr/>
        </p:nvPicPr>
        <p:blipFill>
          <a:blip r:embed="rId5">
            <a:alphaModFix/>
          </a:blip>
          <a:stretch>
            <a:fillRect/>
          </a:stretch>
        </p:blipFill>
        <p:spPr>
          <a:xfrm>
            <a:off x="5179650" y="2529975"/>
            <a:ext cx="3462025" cy="1383650"/>
          </a:xfrm>
          <a:prstGeom prst="rect">
            <a:avLst/>
          </a:prstGeom>
          <a:noFill/>
          <a:ln>
            <a:noFill/>
          </a:ln>
        </p:spPr>
      </p:pic>
      <p:pic>
        <p:nvPicPr>
          <p:cNvPr id="172" name="Google Shape;172;p25"/>
          <p:cNvPicPr preferRelativeResize="0"/>
          <p:nvPr/>
        </p:nvPicPr>
        <p:blipFill>
          <a:blip r:embed="rId6">
            <a:alphaModFix/>
          </a:blip>
          <a:stretch>
            <a:fillRect/>
          </a:stretch>
        </p:blipFill>
        <p:spPr>
          <a:xfrm>
            <a:off x="647938" y="2529975"/>
            <a:ext cx="3462025" cy="1383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XGAN [4]</a:t>
            </a:r>
            <a:endParaRPr/>
          </a:p>
        </p:txBody>
      </p:sp>
      <p:sp>
        <p:nvSpPr>
          <p:cNvPr id="178" name="Google Shape;178;p26"/>
          <p:cNvSpPr txBox="1"/>
          <p:nvPr>
            <p:ph idx="1" type="body"/>
          </p:nvPr>
        </p:nvSpPr>
        <p:spPr>
          <a:xfrm>
            <a:off x="311700" y="1152475"/>
            <a:ext cx="6296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Semantic style transfer - </a:t>
            </a:r>
            <a:r>
              <a:rPr lang="en"/>
              <a:t>transferring</a:t>
            </a:r>
            <a:r>
              <a:rPr lang="en"/>
              <a:t> semantic </a:t>
            </a:r>
            <a:r>
              <a:rPr lang="en"/>
              <a:t>style</a:t>
            </a:r>
            <a:r>
              <a:rPr lang="en"/>
              <a:t> between 2 different domains</a:t>
            </a:r>
            <a:endParaRPr/>
          </a:p>
          <a:p>
            <a:pPr indent="-342900" lvl="0" marL="457200" rtl="0" algn="l">
              <a:spcBef>
                <a:spcPts val="0"/>
              </a:spcBef>
              <a:spcAft>
                <a:spcPts val="0"/>
              </a:spcAft>
              <a:buSzPts val="1800"/>
              <a:buChar char="●"/>
            </a:pPr>
            <a:r>
              <a:rPr lang="en"/>
              <a:t>Authors claim XGAN works good on images from different domains</a:t>
            </a:r>
            <a:endParaRPr/>
          </a:p>
          <a:p>
            <a:pPr indent="-342900" lvl="0" marL="457200" rtl="0" algn="l">
              <a:spcBef>
                <a:spcPts val="0"/>
              </a:spcBef>
              <a:spcAft>
                <a:spcPts val="0"/>
              </a:spcAft>
              <a:buSzPts val="1800"/>
              <a:buChar char="●"/>
            </a:pPr>
            <a:r>
              <a:rPr lang="en"/>
              <a:t>Similar pixel-level structure transfer is worse than other models</a:t>
            </a:r>
            <a:endParaRPr/>
          </a:p>
        </p:txBody>
      </p:sp>
      <p:pic>
        <p:nvPicPr>
          <p:cNvPr id="179" name="Google Shape;179;p26"/>
          <p:cNvPicPr preferRelativeResize="0"/>
          <p:nvPr/>
        </p:nvPicPr>
        <p:blipFill>
          <a:blip r:embed="rId3">
            <a:alphaModFix/>
          </a:blip>
          <a:stretch>
            <a:fillRect/>
          </a:stretch>
        </p:blipFill>
        <p:spPr>
          <a:xfrm>
            <a:off x="6608150" y="88512"/>
            <a:ext cx="2535850" cy="4966476"/>
          </a:xfrm>
          <a:prstGeom prst="rect">
            <a:avLst/>
          </a:prstGeom>
          <a:noFill/>
          <a:ln>
            <a:noFill/>
          </a:ln>
        </p:spPr>
      </p:pic>
      <p:sp>
        <p:nvSpPr>
          <p:cNvPr id="180" name="Google Shape;180;p26"/>
          <p:cNvSpPr txBox="1"/>
          <p:nvPr/>
        </p:nvSpPr>
        <p:spPr>
          <a:xfrm>
            <a:off x="5115325" y="4320825"/>
            <a:ext cx="1705200" cy="3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XGAN, 400 epochs</a:t>
            </a:r>
            <a:endParaRPr sz="1000">
              <a:solidFill>
                <a:schemeClr val="dk2"/>
              </a:solidFill>
            </a:endParaRPr>
          </a:p>
        </p:txBody>
      </p:sp>
      <p:pic>
        <p:nvPicPr>
          <p:cNvPr id="181" name="Google Shape;181;p26"/>
          <p:cNvPicPr preferRelativeResize="0"/>
          <p:nvPr/>
        </p:nvPicPr>
        <p:blipFill>
          <a:blip r:embed="rId4">
            <a:alphaModFix/>
          </a:blip>
          <a:stretch>
            <a:fillRect/>
          </a:stretch>
        </p:blipFill>
        <p:spPr>
          <a:xfrm>
            <a:off x="-4" y="3115896"/>
            <a:ext cx="2823476" cy="2027600"/>
          </a:xfrm>
          <a:prstGeom prst="rect">
            <a:avLst/>
          </a:prstGeom>
          <a:noFill/>
          <a:ln>
            <a:noFill/>
          </a:ln>
        </p:spPr>
      </p:pic>
      <p:sp>
        <p:nvSpPr>
          <p:cNvPr id="182" name="Google Shape;182;p26"/>
          <p:cNvSpPr txBox="1"/>
          <p:nvPr/>
        </p:nvSpPr>
        <p:spPr>
          <a:xfrm>
            <a:off x="2823475" y="4320825"/>
            <a:ext cx="1705200" cy="38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rPr>
              <a:t>XGAN - main idea</a:t>
            </a:r>
            <a:endParaRPr sz="10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Comparisons</a:t>
            </a:r>
            <a:endParaRPr/>
          </a:p>
        </p:txBody>
      </p:sp>
      <p:sp>
        <p:nvSpPr>
          <p:cNvPr id="188" name="Google Shape;18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graphicFrame>
        <p:nvGraphicFramePr>
          <p:cNvPr id="189" name="Google Shape;189;p27"/>
          <p:cNvGraphicFramePr/>
          <p:nvPr/>
        </p:nvGraphicFramePr>
        <p:xfrm>
          <a:off x="952500" y="2000250"/>
          <a:ext cx="3000000" cy="3000000"/>
        </p:xfrm>
        <a:graphic>
          <a:graphicData uri="http://schemas.openxmlformats.org/drawingml/2006/table">
            <a:tbl>
              <a:tblPr>
                <a:noFill/>
                <a:tableStyleId>{D30EB184-CAE1-4CF2-9F07-06DCBC7AE5FB}</a:tableStyleId>
              </a:tblPr>
              <a:tblGrid>
                <a:gridCol w="1206500"/>
                <a:gridCol w="1206500"/>
                <a:gridCol w="1206500"/>
                <a:gridCol w="1206500"/>
                <a:gridCol w="1206500"/>
                <a:gridCol w="12065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DualGAN (1000 epochs)</a:t>
                      </a:r>
                      <a:endParaRPr/>
                    </a:p>
                  </a:txBody>
                  <a:tcPr marT="91425" marB="91425" marR="91425" marL="91425"/>
                </a:tc>
                <a:tc>
                  <a:txBody>
                    <a:bodyPr/>
                    <a:lstStyle/>
                    <a:p>
                      <a:pPr indent="0" lvl="0" marL="0" rtl="0" algn="l">
                        <a:spcBef>
                          <a:spcPts val="0"/>
                        </a:spcBef>
                        <a:spcAft>
                          <a:spcPts val="0"/>
                        </a:spcAft>
                        <a:buNone/>
                      </a:pPr>
                      <a:r>
                        <a:rPr lang="en"/>
                        <a:t>DualGAN more complex (25 epochs)</a:t>
                      </a:r>
                      <a:endParaRPr/>
                    </a:p>
                  </a:txBody>
                  <a:tcPr marT="91425" marB="91425" marR="91425" marL="91425"/>
                </a:tc>
                <a:tc>
                  <a:txBody>
                    <a:bodyPr/>
                    <a:lstStyle/>
                    <a:p>
                      <a:pPr indent="0" lvl="0" marL="0" rtl="0" algn="l">
                        <a:spcBef>
                          <a:spcPts val="0"/>
                        </a:spcBef>
                        <a:spcAft>
                          <a:spcPts val="0"/>
                        </a:spcAft>
                        <a:buNone/>
                      </a:pPr>
                      <a:r>
                        <a:rPr lang="en"/>
                        <a:t>DualGAN with ResNet (400 epochs)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CycleGAN</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t>CycleGAN with inception</a:t>
                      </a:r>
                      <a:endParaRPr/>
                    </a:p>
                  </a:txBody>
                  <a:tcPr marT="91425" marB="91425" marR="91425" marL="91425"/>
                </a:tc>
              </a:tr>
              <a:tr h="381000">
                <a:tc>
                  <a:txBody>
                    <a:bodyPr/>
                    <a:lstStyle/>
                    <a:p>
                      <a:pPr indent="0" lvl="0" marL="0" rtl="0" algn="l">
                        <a:spcBef>
                          <a:spcPts val="0"/>
                        </a:spcBef>
                        <a:spcAft>
                          <a:spcPts val="0"/>
                        </a:spcAft>
                        <a:buNone/>
                      </a:pPr>
                      <a:r>
                        <a:rPr lang="en"/>
                        <a:t>FID</a:t>
                      </a:r>
                      <a:endParaRPr/>
                    </a:p>
                  </a:txBody>
                  <a:tcPr marT="91425" marB="91425" marR="91425" marL="91425"/>
                </a:tc>
                <a:tc>
                  <a:txBody>
                    <a:bodyPr/>
                    <a:lstStyle/>
                    <a:p>
                      <a:pPr indent="0" lvl="0" marL="0" rtl="0" algn="l">
                        <a:spcBef>
                          <a:spcPts val="0"/>
                        </a:spcBef>
                        <a:spcAft>
                          <a:spcPts val="0"/>
                        </a:spcAft>
                        <a:buNone/>
                      </a:pPr>
                      <a:r>
                        <a:rPr lang="en"/>
                        <a:t>140</a:t>
                      </a:r>
                      <a:endParaRPr/>
                    </a:p>
                  </a:txBody>
                  <a:tcPr marT="91425" marB="91425" marR="91425" marL="91425"/>
                </a:tc>
                <a:tc>
                  <a:txBody>
                    <a:bodyPr/>
                    <a:lstStyle/>
                    <a:p>
                      <a:pPr indent="0" lvl="0" marL="0" rtl="0" algn="l">
                        <a:spcBef>
                          <a:spcPts val="0"/>
                        </a:spcBef>
                        <a:spcAft>
                          <a:spcPts val="0"/>
                        </a:spcAft>
                        <a:buNone/>
                      </a:pPr>
                      <a:r>
                        <a:rPr lang="en"/>
                        <a:t>130</a:t>
                      </a:r>
                      <a:endParaRPr/>
                    </a:p>
                  </a:txBody>
                  <a:tcPr marT="91425" marB="91425" marR="91425" marL="91425"/>
                </a:tc>
                <a:tc>
                  <a:txBody>
                    <a:bodyPr/>
                    <a:lstStyle/>
                    <a:p>
                      <a:pPr indent="0" lvl="0" marL="0" rtl="0" algn="l">
                        <a:spcBef>
                          <a:spcPts val="0"/>
                        </a:spcBef>
                        <a:spcAft>
                          <a:spcPts val="0"/>
                        </a:spcAft>
                        <a:buNone/>
                      </a:pPr>
                      <a:r>
                        <a:rPr lang="en"/>
                        <a:t>140</a:t>
                      </a:r>
                      <a:endParaRPr/>
                    </a:p>
                  </a:txBody>
                  <a:tcPr marT="91425" marB="91425" marR="91425" marL="91425"/>
                </a:tc>
                <a:tc>
                  <a:txBody>
                    <a:bodyPr/>
                    <a:lstStyle/>
                    <a:p>
                      <a:pPr indent="0" lvl="0" marL="0" rtl="0" algn="l">
                        <a:spcBef>
                          <a:spcPts val="0"/>
                        </a:spcBef>
                        <a:spcAft>
                          <a:spcPts val="0"/>
                        </a:spcAft>
                        <a:buNone/>
                      </a:pPr>
                      <a:r>
                        <a:rPr lang="en"/>
                        <a:t>110</a:t>
                      </a:r>
                      <a:endParaRPr/>
                    </a:p>
                  </a:txBody>
                  <a:tcPr marT="91425" marB="91425" marR="91425" marL="91425"/>
                </a:tc>
                <a:tc>
                  <a:txBody>
                    <a:bodyPr/>
                    <a:lstStyle/>
                    <a:p>
                      <a:pPr indent="0" lvl="0" marL="0" rtl="0" algn="l">
                        <a:spcBef>
                          <a:spcPts val="0"/>
                        </a:spcBef>
                        <a:spcAft>
                          <a:spcPts val="0"/>
                        </a:spcAft>
                        <a:buNone/>
                      </a:pPr>
                      <a:r>
                        <a:rPr lang="en"/>
                        <a:t>109</a:t>
                      </a:r>
                      <a:endParaRPr/>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95" name="Google Shape;19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Some of the results are promising, and some are not much;</a:t>
            </a:r>
            <a:endParaRPr/>
          </a:p>
          <a:p>
            <a:pPr indent="-342900" lvl="0" marL="457200" rtl="0" algn="l">
              <a:spcBef>
                <a:spcPts val="0"/>
              </a:spcBef>
              <a:spcAft>
                <a:spcPts val="0"/>
              </a:spcAft>
              <a:buSzPts val="1800"/>
              <a:buChar char="●"/>
            </a:pPr>
            <a:r>
              <a:rPr lang="en"/>
              <a:t>GANs require a lot of computational resources, which we lack;</a:t>
            </a:r>
            <a:endParaRPr/>
          </a:p>
          <a:p>
            <a:pPr indent="-342900" lvl="0" marL="457200" rtl="0" algn="l">
              <a:spcBef>
                <a:spcPts val="0"/>
              </a:spcBef>
              <a:spcAft>
                <a:spcPts val="0"/>
              </a:spcAft>
              <a:buSzPts val="1800"/>
              <a:buChar char="●"/>
            </a:pPr>
            <a:r>
              <a:rPr lang="en"/>
              <a:t>The results that we have might transfer into much more better ones with the proper resources;</a:t>
            </a:r>
            <a:endParaRPr/>
          </a:p>
          <a:p>
            <a:pPr indent="-342900" lvl="0" marL="457200" rtl="0" algn="l">
              <a:spcBef>
                <a:spcPts val="0"/>
              </a:spcBef>
              <a:spcAft>
                <a:spcPts val="0"/>
              </a:spcAft>
              <a:buSzPts val="1800"/>
              <a:buChar char="●"/>
            </a:pPr>
            <a:r>
              <a:rPr lang="en"/>
              <a:t>Some other problems:</a:t>
            </a:r>
            <a:endParaRPr/>
          </a:p>
          <a:p>
            <a:pPr indent="-317500" lvl="1" marL="914400" rtl="0" algn="l">
              <a:spcBef>
                <a:spcPts val="0"/>
              </a:spcBef>
              <a:spcAft>
                <a:spcPts val="0"/>
              </a:spcAft>
              <a:buSzPts val="1400"/>
              <a:buChar char="○"/>
            </a:pPr>
            <a:r>
              <a:rPr lang="en"/>
              <a:t>We do not have other works to compare (each work is very different);</a:t>
            </a:r>
            <a:endParaRPr/>
          </a:p>
          <a:p>
            <a:pPr indent="-317500" lvl="1" marL="914400" rtl="0" algn="l">
              <a:spcBef>
                <a:spcPts val="0"/>
              </a:spcBef>
              <a:spcAft>
                <a:spcPts val="0"/>
              </a:spcAft>
              <a:buSzPts val="1400"/>
              <a:buChar char="○"/>
            </a:pPr>
            <a:r>
              <a:rPr lang="en"/>
              <a:t>MiFID that we originally planned to implement requires old framework packages that we could not install.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Bibliography</a:t>
            </a:r>
            <a:endParaRPr/>
          </a:p>
        </p:txBody>
      </p:sp>
      <p:sp>
        <p:nvSpPr>
          <p:cNvPr id="201" name="Google Shape;20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[1] Z. Yi, H. Zhang, P. Tan and M. Gong, "DualGAN: Unsupervised Dual Learning for Image-to-Image Translation," 2017 IEEE International Conference on Computer Vision (ICCV), Venice, Italy, 2017, pp. 2868-2876, doi: 10.1109/ICCV.2017.310.</a:t>
            </a:r>
            <a:endParaRPr/>
          </a:p>
          <a:p>
            <a:pPr indent="0" lvl="0" marL="0" rtl="0" algn="l">
              <a:spcBef>
                <a:spcPts val="1200"/>
              </a:spcBef>
              <a:spcAft>
                <a:spcPts val="0"/>
              </a:spcAft>
              <a:buNone/>
            </a:pPr>
            <a:r>
              <a:rPr lang="en"/>
              <a:t>[2] J. -Y. Zhu, T. Park, P. Isola and A. A. Efros, "Unpaired Image-to-Image Translation Using Cycle-Consistent Adversarial Networks," 2017 IEEE International Conference on Computer Vision (ICCV), Venice, Italy, 2017, pp. 2242-2251, doi: 10.1109/ICCV.2017.244.</a:t>
            </a:r>
            <a:endParaRPr/>
          </a:p>
          <a:p>
            <a:pPr indent="0" lvl="0" marL="0" rtl="0" algn="l">
              <a:spcBef>
                <a:spcPts val="1200"/>
              </a:spcBef>
              <a:spcAft>
                <a:spcPts val="0"/>
              </a:spcAft>
              <a:buNone/>
            </a:pPr>
            <a:r>
              <a:rPr lang="en"/>
              <a:t>[3] Samet Hicsonmez, Nermin Samet, Emre Akbas, and Pinar Duygulu, “GANILLA: Generative adversarial networks for image to illustration translation”, Image Vision Comput, 95, C (Mar 2020), doi : 10.1016/j.imavis.2020.103886</a:t>
            </a:r>
            <a:endParaRPr/>
          </a:p>
          <a:p>
            <a:pPr indent="0" lvl="0" marL="0" rtl="0" algn="l">
              <a:spcBef>
                <a:spcPts val="1200"/>
              </a:spcBef>
              <a:spcAft>
                <a:spcPts val="1200"/>
              </a:spcAft>
              <a:buNone/>
            </a:pPr>
            <a:r>
              <a:rPr lang="en"/>
              <a:t>[4]Royer, A. et al., “XGAN: Unsupervised Image-to-Image Translation for Many-to-Many Mappings”, In: Singh, R., Vatsa, M., Patel, V., Ratha, N. (eds) Domain Adaptation for Visual Understanding. Springer, Cham. doi: 10.1007/978-3-030-30671-7_</a:t>
            </a:r>
            <a:r>
              <a:rPr lang="en"/>
              <a:t>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